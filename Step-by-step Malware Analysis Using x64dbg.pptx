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3" d="100"/>
          <a:sy n="113" d="100"/>
        </p:scale>
        <p:origin x="45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7CB67-83FE-F220-BD4C-A3C354B27F4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42A3B43-0732-189E-67EE-FA6566C825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2827571-2EBD-0406-F94B-5D8B82DE0D6D}"/>
              </a:ext>
            </a:extLst>
          </p:cNvPr>
          <p:cNvSpPr>
            <a:spLocks noGrp="1"/>
          </p:cNvSpPr>
          <p:nvPr>
            <p:ph type="dt" sz="half" idx="10"/>
          </p:nvPr>
        </p:nvSpPr>
        <p:spPr/>
        <p:txBody>
          <a:bodyPr/>
          <a:lstStyle/>
          <a:p>
            <a:fld id="{FD73E134-5267-4199-90F0-B423F05F5863}" type="datetimeFigureOut">
              <a:rPr lang="en-IN" smtClean="0"/>
              <a:t>16-11-2023</a:t>
            </a:fld>
            <a:endParaRPr lang="en-IN"/>
          </a:p>
        </p:txBody>
      </p:sp>
      <p:sp>
        <p:nvSpPr>
          <p:cNvPr id="5" name="Footer Placeholder 4">
            <a:extLst>
              <a:ext uri="{FF2B5EF4-FFF2-40B4-BE49-F238E27FC236}">
                <a16:creationId xmlns:a16="http://schemas.microsoft.com/office/drawing/2014/main" id="{30D3871F-8A78-5D6B-AD86-49ADAD98DFB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409B821-CCC9-B8EB-3805-1CA9E763D41A}"/>
              </a:ext>
            </a:extLst>
          </p:cNvPr>
          <p:cNvSpPr>
            <a:spLocks noGrp="1"/>
          </p:cNvSpPr>
          <p:nvPr>
            <p:ph type="sldNum" sz="quarter" idx="12"/>
          </p:nvPr>
        </p:nvSpPr>
        <p:spPr/>
        <p:txBody>
          <a:bodyPr/>
          <a:lstStyle/>
          <a:p>
            <a:fld id="{EB470791-0458-4F37-8067-CC5E787D3393}" type="slidenum">
              <a:rPr lang="en-IN" smtClean="0"/>
              <a:t>‹#›</a:t>
            </a:fld>
            <a:endParaRPr lang="en-IN"/>
          </a:p>
        </p:txBody>
      </p:sp>
    </p:spTree>
    <p:extLst>
      <p:ext uri="{BB962C8B-B14F-4D97-AF65-F5344CB8AC3E}">
        <p14:creationId xmlns:p14="http://schemas.microsoft.com/office/powerpoint/2010/main" val="12588928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A5ED3-F52D-118F-C66A-FB7E30360FC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5EB07FF-F2B5-F73B-1F49-D755268CF4C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E3CCE03-F3B3-6300-AB61-2C6C3625D58B}"/>
              </a:ext>
            </a:extLst>
          </p:cNvPr>
          <p:cNvSpPr>
            <a:spLocks noGrp="1"/>
          </p:cNvSpPr>
          <p:nvPr>
            <p:ph type="dt" sz="half" idx="10"/>
          </p:nvPr>
        </p:nvSpPr>
        <p:spPr/>
        <p:txBody>
          <a:bodyPr/>
          <a:lstStyle/>
          <a:p>
            <a:fld id="{FD73E134-5267-4199-90F0-B423F05F5863}" type="datetimeFigureOut">
              <a:rPr lang="en-IN" smtClean="0"/>
              <a:t>16-11-2023</a:t>
            </a:fld>
            <a:endParaRPr lang="en-IN"/>
          </a:p>
        </p:txBody>
      </p:sp>
      <p:sp>
        <p:nvSpPr>
          <p:cNvPr id="5" name="Footer Placeholder 4">
            <a:extLst>
              <a:ext uri="{FF2B5EF4-FFF2-40B4-BE49-F238E27FC236}">
                <a16:creationId xmlns:a16="http://schemas.microsoft.com/office/drawing/2014/main" id="{E2B730BA-EC5E-BB1B-3ECE-1BEFDF0ACB7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9F8A96D-5880-99C3-5348-69E3DD347346}"/>
              </a:ext>
            </a:extLst>
          </p:cNvPr>
          <p:cNvSpPr>
            <a:spLocks noGrp="1"/>
          </p:cNvSpPr>
          <p:nvPr>
            <p:ph type="sldNum" sz="quarter" idx="12"/>
          </p:nvPr>
        </p:nvSpPr>
        <p:spPr/>
        <p:txBody>
          <a:bodyPr/>
          <a:lstStyle/>
          <a:p>
            <a:fld id="{EB470791-0458-4F37-8067-CC5E787D3393}" type="slidenum">
              <a:rPr lang="en-IN" smtClean="0"/>
              <a:t>‹#›</a:t>
            </a:fld>
            <a:endParaRPr lang="en-IN"/>
          </a:p>
        </p:txBody>
      </p:sp>
    </p:spTree>
    <p:extLst>
      <p:ext uri="{BB962C8B-B14F-4D97-AF65-F5344CB8AC3E}">
        <p14:creationId xmlns:p14="http://schemas.microsoft.com/office/powerpoint/2010/main" val="5924337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F8E21-8D91-C28A-2DC7-B423E5FA4C7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77852BF-771C-B892-08A9-4385B4028A2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CF2248B-2794-54C8-A09F-ECF01F385187}"/>
              </a:ext>
            </a:extLst>
          </p:cNvPr>
          <p:cNvSpPr>
            <a:spLocks noGrp="1"/>
          </p:cNvSpPr>
          <p:nvPr>
            <p:ph type="dt" sz="half" idx="10"/>
          </p:nvPr>
        </p:nvSpPr>
        <p:spPr/>
        <p:txBody>
          <a:bodyPr/>
          <a:lstStyle/>
          <a:p>
            <a:fld id="{FD73E134-5267-4199-90F0-B423F05F5863}" type="datetimeFigureOut">
              <a:rPr lang="en-IN" smtClean="0"/>
              <a:t>16-11-2023</a:t>
            </a:fld>
            <a:endParaRPr lang="en-IN"/>
          </a:p>
        </p:txBody>
      </p:sp>
      <p:sp>
        <p:nvSpPr>
          <p:cNvPr id="5" name="Footer Placeholder 4">
            <a:extLst>
              <a:ext uri="{FF2B5EF4-FFF2-40B4-BE49-F238E27FC236}">
                <a16:creationId xmlns:a16="http://schemas.microsoft.com/office/drawing/2014/main" id="{8CF1C6E3-EA2F-F947-A1EC-E79A1734ADB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9F8728-78B1-A12E-47B1-2424AE044500}"/>
              </a:ext>
            </a:extLst>
          </p:cNvPr>
          <p:cNvSpPr>
            <a:spLocks noGrp="1"/>
          </p:cNvSpPr>
          <p:nvPr>
            <p:ph type="sldNum" sz="quarter" idx="12"/>
          </p:nvPr>
        </p:nvSpPr>
        <p:spPr/>
        <p:txBody>
          <a:bodyPr/>
          <a:lstStyle/>
          <a:p>
            <a:fld id="{EB470791-0458-4F37-8067-CC5E787D3393}" type="slidenum">
              <a:rPr lang="en-IN" smtClean="0"/>
              <a:t>‹#›</a:t>
            </a:fld>
            <a:endParaRPr lang="en-IN"/>
          </a:p>
        </p:txBody>
      </p:sp>
    </p:spTree>
    <p:extLst>
      <p:ext uri="{BB962C8B-B14F-4D97-AF65-F5344CB8AC3E}">
        <p14:creationId xmlns:p14="http://schemas.microsoft.com/office/powerpoint/2010/main" val="36691232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F12DD-24CC-7ED0-62E5-F5FA02D6A6C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002CB87-A7E9-E987-E617-ED6B2BED982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4A4F1FA-A206-9C61-21DB-010490F3C35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657A231-AA0E-8A60-5917-CFA9B141ACB6}"/>
              </a:ext>
            </a:extLst>
          </p:cNvPr>
          <p:cNvSpPr>
            <a:spLocks noGrp="1"/>
          </p:cNvSpPr>
          <p:nvPr>
            <p:ph type="dt" sz="half" idx="10"/>
          </p:nvPr>
        </p:nvSpPr>
        <p:spPr/>
        <p:txBody>
          <a:bodyPr/>
          <a:lstStyle/>
          <a:p>
            <a:fld id="{FD73E134-5267-4199-90F0-B423F05F5863}" type="datetimeFigureOut">
              <a:rPr lang="en-IN" smtClean="0"/>
              <a:t>16-11-2023</a:t>
            </a:fld>
            <a:endParaRPr lang="en-IN"/>
          </a:p>
        </p:txBody>
      </p:sp>
      <p:sp>
        <p:nvSpPr>
          <p:cNvPr id="6" name="Footer Placeholder 5">
            <a:extLst>
              <a:ext uri="{FF2B5EF4-FFF2-40B4-BE49-F238E27FC236}">
                <a16:creationId xmlns:a16="http://schemas.microsoft.com/office/drawing/2014/main" id="{CEA1ED92-7CCC-C82C-BE05-83F9AED5C87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76E4930-20DE-4B87-A353-9A5CB36EBF98}"/>
              </a:ext>
            </a:extLst>
          </p:cNvPr>
          <p:cNvSpPr>
            <a:spLocks noGrp="1"/>
          </p:cNvSpPr>
          <p:nvPr>
            <p:ph type="sldNum" sz="quarter" idx="12"/>
          </p:nvPr>
        </p:nvSpPr>
        <p:spPr/>
        <p:txBody>
          <a:bodyPr/>
          <a:lstStyle/>
          <a:p>
            <a:fld id="{EB470791-0458-4F37-8067-CC5E787D3393}" type="slidenum">
              <a:rPr lang="en-IN" smtClean="0"/>
              <a:t>‹#›</a:t>
            </a:fld>
            <a:endParaRPr lang="en-IN"/>
          </a:p>
        </p:txBody>
      </p:sp>
    </p:spTree>
    <p:extLst>
      <p:ext uri="{BB962C8B-B14F-4D97-AF65-F5344CB8AC3E}">
        <p14:creationId xmlns:p14="http://schemas.microsoft.com/office/powerpoint/2010/main" val="4551851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2D18B-A442-8883-E630-041D80BFCA5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3E27981-1493-D110-50F9-A64026D30C7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3323B4C-F7EC-EB4E-06EA-4886CA69E61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84873F4-6E8F-7CE2-B7FE-35621A6B210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B8D24D5-198D-D896-D51B-3FC77773AC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583BD78-9261-40D2-8063-EC7B34739EBA}"/>
              </a:ext>
            </a:extLst>
          </p:cNvPr>
          <p:cNvSpPr>
            <a:spLocks noGrp="1"/>
          </p:cNvSpPr>
          <p:nvPr>
            <p:ph type="dt" sz="half" idx="10"/>
          </p:nvPr>
        </p:nvSpPr>
        <p:spPr/>
        <p:txBody>
          <a:bodyPr/>
          <a:lstStyle/>
          <a:p>
            <a:fld id="{FD73E134-5267-4199-90F0-B423F05F5863}" type="datetimeFigureOut">
              <a:rPr lang="en-IN" smtClean="0"/>
              <a:t>16-11-2023</a:t>
            </a:fld>
            <a:endParaRPr lang="en-IN"/>
          </a:p>
        </p:txBody>
      </p:sp>
      <p:sp>
        <p:nvSpPr>
          <p:cNvPr id="8" name="Footer Placeholder 7">
            <a:extLst>
              <a:ext uri="{FF2B5EF4-FFF2-40B4-BE49-F238E27FC236}">
                <a16:creationId xmlns:a16="http://schemas.microsoft.com/office/drawing/2014/main" id="{1B4C73BF-4647-3554-905F-C17E4FD739C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89F90F2-4D56-F029-43E8-B1D894845960}"/>
              </a:ext>
            </a:extLst>
          </p:cNvPr>
          <p:cNvSpPr>
            <a:spLocks noGrp="1"/>
          </p:cNvSpPr>
          <p:nvPr>
            <p:ph type="sldNum" sz="quarter" idx="12"/>
          </p:nvPr>
        </p:nvSpPr>
        <p:spPr/>
        <p:txBody>
          <a:bodyPr/>
          <a:lstStyle/>
          <a:p>
            <a:fld id="{EB470791-0458-4F37-8067-CC5E787D3393}" type="slidenum">
              <a:rPr lang="en-IN" smtClean="0"/>
              <a:t>‹#›</a:t>
            </a:fld>
            <a:endParaRPr lang="en-IN"/>
          </a:p>
        </p:txBody>
      </p:sp>
    </p:spTree>
    <p:extLst>
      <p:ext uri="{BB962C8B-B14F-4D97-AF65-F5344CB8AC3E}">
        <p14:creationId xmlns:p14="http://schemas.microsoft.com/office/powerpoint/2010/main" val="13714445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66F60-50CC-0E14-F089-5B50BC1CF53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AF3A202-7B75-07C0-493D-686A775ABD30}"/>
              </a:ext>
            </a:extLst>
          </p:cNvPr>
          <p:cNvSpPr>
            <a:spLocks noGrp="1"/>
          </p:cNvSpPr>
          <p:nvPr>
            <p:ph type="dt" sz="half" idx="10"/>
          </p:nvPr>
        </p:nvSpPr>
        <p:spPr/>
        <p:txBody>
          <a:bodyPr/>
          <a:lstStyle/>
          <a:p>
            <a:fld id="{FD73E134-5267-4199-90F0-B423F05F5863}" type="datetimeFigureOut">
              <a:rPr lang="en-IN" smtClean="0"/>
              <a:t>16-11-2023</a:t>
            </a:fld>
            <a:endParaRPr lang="en-IN"/>
          </a:p>
        </p:txBody>
      </p:sp>
      <p:sp>
        <p:nvSpPr>
          <p:cNvPr id="4" name="Footer Placeholder 3">
            <a:extLst>
              <a:ext uri="{FF2B5EF4-FFF2-40B4-BE49-F238E27FC236}">
                <a16:creationId xmlns:a16="http://schemas.microsoft.com/office/drawing/2014/main" id="{206BC743-02D3-A14D-709F-ED8D2CCC278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4F3CA23-C18E-56EF-F407-119FEE91BAB2}"/>
              </a:ext>
            </a:extLst>
          </p:cNvPr>
          <p:cNvSpPr>
            <a:spLocks noGrp="1"/>
          </p:cNvSpPr>
          <p:nvPr>
            <p:ph type="sldNum" sz="quarter" idx="12"/>
          </p:nvPr>
        </p:nvSpPr>
        <p:spPr/>
        <p:txBody>
          <a:bodyPr/>
          <a:lstStyle/>
          <a:p>
            <a:fld id="{EB470791-0458-4F37-8067-CC5E787D3393}" type="slidenum">
              <a:rPr lang="en-IN" smtClean="0"/>
              <a:t>‹#›</a:t>
            </a:fld>
            <a:endParaRPr lang="en-IN"/>
          </a:p>
        </p:txBody>
      </p:sp>
    </p:spTree>
    <p:extLst>
      <p:ext uri="{BB962C8B-B14F-4D97-AF65-F5344CB8AC3E}">
        <p14:creationId xmlns:p14="http://schemas.microsoft.com/office/powerpoint/2010/main" val="28642035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4883214-743C-4451-E3B1-0B182B361C3E}"/>
              </a:ext>
            </a:extLst>
          </p:cNvPr>
          <p:cNvSpPr>
            <a:spLocks noGrp="1"/>
          </p:cNvSpPr>
          <p:nvPr>
            <p:ph type="dt" sz="half" idx="10"/>
          </p:nvPr>
        </p:nvSpPr>
        <p:spPr/>
        <p:txBody>
          <a:bodyPr/>
          <a:lstStyle/>
          <a:p>
            <a:fld id="{FD73E134-5267-4199-90F0-B423F05F5863}" type="datetimeFigureOut">
              <a:rPr lang="en-IN" smtClean="0"/>
              <a:t>16-11-2023</a:t>
            </a:fld>
            <a:endParaRPr lang="en-IN"/>
          </a:p>
        </p:txBody>
      </p:sp>
      <p:sp>
        <p:nvSpPr>
          <p:cNvPr id="3" name="Footer Placeholder 2">
            <a:extLst>
              <a:ext uri="{FF2B5EF4-FFF2-40B4-BE49-F238E27FC236}">
                <a16:creationId xmlns:a16="http://schemas.microsoft.com/office/drawing/2014/main" id="{01ADA41C-2EA0-9856-98D9-929CDC95708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937E6D0-AE61-8013-7046-F8B1C2AA51C5}"/>
              </a:ext>
            </a:extLst>
          </p:cNvPr>
          <p:cNvSpPr>
            <a:spLocks noGrp="1"/>
          </p:cNvSpPr>
          <p:nvPr>
            <p:ph type="sldNum" sz="quarter" idx="12"/>
          </p:nvPr>
        </p:nvSpPr>
        <p:spPr/>
        <p:txBody>
          <a:bodyPr/>
          <a:lstStyle/>
          <a:p>
            <a:fld id="{EB470791-0458-4F37-8067-CC5E787D3393}" type="slidenum">
              <a:rPr lang="en-IN" smtClean="0"/>
              <a:t>‹#›</a:t>
            </a:fld>
            <a:endParaRPr lang="en-IN"/>
          </a:p>
        </p:txBody>
      </p:sp>
    </p:spTree>
    <p:extLst>
      <p:ext uri="{BB962C8B-B14F-4D97-AF65-F5344CB8AC3E}">
        <p14:creationId xmlns:p14="http://schemas.microsoft.com/office/powerpoint/2010/main" val="21543454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9315F-348A-036E-98CF-21203165C9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2BE0BF3-6BC9-017D-A98D-9951057DE1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A499C8F-1C23-AB61-5519-E531FF3638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60B001-422E-1FEA-DD0E-F77928490AAB}"/>
              </a:ext>
            </a:extLst>
          </p:cNvPr>
          <p:cNvSpPr>
            <a:spLocks noGrp="1"/>
          </p:cNvSpPr>
          <p:nvPr>
            <p:ph type="dt" sz="half" idx="10"/>
          </p:nvPr>
        </p:nvSpPr>
        <p:spPr/>
        <p:txBody>
          <a:bodyPr/>
          <a:lstStyle/>
          <a:p>
            <a:fld id="{FD73E134-5267-4199-90F0-B423F05F5863}" type="datetimeFigureOut">
              <a:rPr lang="en-IN" smtClean="0"/>
              <a:t>16-11-2023</a:t>
            </a:fld>
            <a:endParaRPr lang="en-IN"/>
          </a:p>
        </p:txBody>
      </p:sp>
      <p:sp>
        <p:nvSpPr>
          <p:cNvPr id="6" name="Footer Placeholder 5">
            <a:extLst>
              <a:ext uri="{FF2B5EF4-FFF2-40B4-BE49-F238E27FC236}">
                <a16:creationId xmlns:a16="http://schemas.microsoft.com/office/drawing/2014/main" id="{BE77DD20-A362-A3AE-B191-606E414295D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86305E4-7F41-09BF-B533-F4FB6B695276}"/>
              </a:ext>
            </a:extLst>
          </p:cNvPr>
          <p:cNvSpPr>
            <a:spLocks noGrp="1"/>
          </p:cNvSpPr>
          <p:nvPr>
            <p:ph type="sldNum" sz="quarter" idx="12"/>
          </p:nvPr>
        </p:nvSpPr>
        <p:spPr/>
        <p:txBody>
          <a:bodyPr/>
          <a:lstStyle/>
          <a:p>
            <a:fld id="{EB470791-0458-4F37-8067-CC5E787D3393}" type="slidenum">
              <a:rPr lang="en-IN" smtClean="0"/>
              <a:t>‹#›</a:t>
            </a:fld>
            <a:endParaRPr lang="en-IN"/>
          </a:p>
        </p:txBody>
      </p:sp>
    </p:spTree>
    <p:extLst>
      <p:ext uri="{BB962C8B-B14F-4D97-AF65-F5344CB8AC3E}">
        <p14:creationId xmlns:p14="http://schemas.microsoft.com/office/powerpoint/2010/main" val="17333299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F7BA7-9195-445B-472A-772E311033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B8D1DED-11FD-1446-E043-9025C238004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3115D34-6778-3447-626D-FA2D8C5B29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82CA68-9D03-1117-7B67-E035AA2879C4}"/>
              </a:ext>
            </a:extLst>
          </p:cNvPr>
          <p:cNvSpPr>
            <a:spLocks noGrp="1"/>
          </p:cNvSpPr>
          <p:nvPr>
            <p:ph type="dt" sz="half" idx="10"/>
          </p:nvPr>
        </p:nvSpPr>
        <p:spPr/>
        <p:txBody>
          <a:bodyPr/>
          <a:lstStyle/>
          <a:p>
            <a:fld id="{FD73E134-5267-4199-90F0-B423F05F5863}" type="datetimeFigureOut">
              <a:rPr lang="en-IN" smtClean="0"/>
              <a:t>16-11-2023</a:t>
            </a:fld>
            <a:endParaRPr lang="en-IN"/>
          </a:p>
        </p:txBody>
      </p:sp>
      <p:sp>
        <p:nvSpPr>
          <p:cNvPr id="6" name="Footer Placeholder 5">
            <a:extLst>
              <a:ext uri="{FF2B5EF4-FFF2-40B4-BE49-F238E27FC236}">
                <a16:creationId xmlns:a16="http://schemas.microsoft.com/office/drawing/2014/main" id="{3604B0A4-AD1F-DDB6-96F1-DF9217E4253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F282900-920A-AE0B-7B4C-E2058D66B1C3}"/>
              </a:ext>
            </a:extLst>
          </p:cNvPr>
          <p:cNvSpPr>
            <a:spLocks noGrp="1"/>
          </p:cNvSpPr>
          <p:nvPr>
            <p:ph type="sldNum" sz="quarter" idx="12"/>
          </p:nvPr>
        </p:nvSpPr>
        <p:spPr/>
        <p:txBody>
          <a:bodyPr/>
          <a:lstStyle/>
          <a:p>
            <a:fld id="{EB470791-0458-4F37-8067-CC5E787D3393}" type="slidenum">
              <a:rPr lang="en-IN" smtClean="0"/>
              <a:t>‹#›</a:t>
            </a:fld>
            <a:endParaRPr lang="en-IN"/>
          </a:p>
        </p:txBody>
      </p:sp>
    </p:spTree>
    <p:extLst>
      <p:ext uri="{BB962C8B-B14F-4D97-AF65-F5344CB8AC3E}">
        <p14:creationId xmlns:p14="http://schemas.microsoft.com/office/powerpoint/2010/main" val="1672942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27B27-2A71-3AD1-38C2-5B5B71E259B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CA8F158-9F43-46AA-7F87-074F8FA8A43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D1B6E92-966C-A83F-75C1-46D2EA417B6D}"/>
              </a:ext>
            </a:extLst>
          </p:cNvPr>
          <p:cNvSpPr>
            <a:spLocks noGrp="1"/>
          </p:cNvSpPr>
          <p:nvPr>
            <p:ph type="dt" sz="half" idx="10"/>
          </p:nvPr>
        </p:nvSpPr>
        <p:spPr/>
        <p:txBody>
          <a:bodyPr/>
          <a:lstStyle/>
          <a:p>
            <a:fld id="{FD73E134-5267-4199-90F0-B423F05F5863}" type="datetimeFigureOut">
              <a:rPr lang="en-IN" smtClean="0"/>
              <a:t>16-11-2023</a:t>
            </a:fld>
            <a:endParaRPr lang="en-IN"/>
          </a:p>
        </p:txBody>
      </p:sp>
      <p:sp>
        <p:nvSpPr>
          <p:cNvPr id="5" name="Footer Placeholder 4">
            <a:extLst>
              <a:ext uri="{FF2B5EF4-FFF2-40B4-BE49-F238E27FC236}">
                <a16:creationId xmlns:a16="http://schemas.microsoft.com/office/drawing/2014/main" id="{6F8CCAEB-DABB-5320-4542-6CF330D898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E304EEC-34A2-4B94-7259-68CCD0AC84F7}"/>
              </a:ext>
            </a:extLst>
          </p:cNvPr>
          <p:cNvSpPr>
            <a:spLocks noGrp="1"/>
          </p:cNvSpPr>
          <p:nvPr>
            <p:ph type="sldNum" sz="quarter" idx="12"/>
          </p:nvPr>
        </p:nvSpPr>
        <p:spPr/>
        <p:txBody>
          <a:bodyPr/>
          <a:lstStyle/>
          <a:p>
            <a:fld id="{EB470791-0458-4F37-8067-CC5E787D3393}" type="slidenum">
              <a:rPr lang="en-IN" smtClean="0"/>
              <a:t>‹#›</a:t>
            </a:fld>
            <a:endParaRPr lang="en-IN"/>
          </a:p>
        </p:txBody>
      </p:sp>
    </p:spTree>
    <p:extLst>
      <p:ext uri="{BB962C8B-B14F-4D97-AF65-F5344CB8AC3E}">
        <p14:creationId xmlns:p14="http://schemas.microsoft.com/office/powerpoint/2010/main" val="39388399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D67587-B5FD-9167-3241-C1BE56E04A6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EF59F02-B16C-0BB4-2093-FB9765B3ED5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A802FCE-9160-CBFE-CCAA-5BFD08C9D851}"/>
              </a:ext>
            </a:extLst>
          </p:cNvPr>
          <p:cNvSpPr>
            <a:spLocks noGrp="1"/>
          </p:cNvSpPr>
          <p:nvPr>
            <p:ph type="dt" sz="half" idx="10"/>
          </p:nvPr>
        </p:nvSpPr>
        <p:spPr/>
        <p:txBody>
          <a:bodyPr/>
          <a:lstStyle/>
          <a:p>
            <a:fld id="{FD73E134-5267-4199-90F0-B423F05F5863}" type="datetimeFigureOut">
              <a:rPr lang="en-IN" smtClean="0"/>
              <a:t>16-11-2023</a:t>
            </a:fld>
            <a:endParaRPr lang="en-IN"/>
          </a:p>
        </p:txBody>
      </p:sp>
      <p:sp>
        <p:nvSpPr>
          <p:cNvPr id="5" name="Footer Placeholder 4">
            <a:extLst>
              <a:ext uri="{FF2B5EF4-FFF2-40B4-BE49-F238E27FC236}">
                <a16:creationId xmlns:a16="http://schemas.microsoft.com/office/drawing/2014/main" id="{35654C63-A485-106B-D7F0-F420F59668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9A7391D-CC47-B808-EA48-42B0C868D4F3}"/>
              </a:ext>
            </a:extLst>
          </p:cNvPr>
          <p:cNvSpPr>
            <a:spLocks noGrp="1"/>
          </p:cNvSpPr>
          <p:nvPr>
            <p:ph type="sldNum" sz="quarter" idx="12"/>
          </p:nvPr>
        </p:nvSpPr>
        <p:spPr/>
        <p:txBody>
          <a:bodyPr/>
          <a:lstStyle/>
          <a:p>
            <a:fld id="{EB470791-0458-4F37-8067-CC5E787D3393}" type="slidenum">
              <a:rPr lang="en-IN" smtClean="0"/>
              <a:t>‹#›</a:t>
            </a:fld>
            <a:endParaRPr lang="en-IN"/>
          </a:p>
        </p:txBody>
      </p:sp>
    </p:spTree>
    <p:extLst>
      <p:ext uri="{BB962C8B-B14F-4D97-AF65-F5344CB8AC3E}">
        <p14:creationId xmlns:p14="http://schemas.microsoft.com/office/powerpoint/2010/main" val="10217468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421354-E93B-A3AD-67F2-E64FD1C580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A159A49-1FDE-00E6-D5FD-4D111E4CD0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7A61FC-9086-EC33-95FD-4F7236CCEE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73E134-5267-4199-90F0-B423F05F5863}" type="datetimeFigureOut">
              <a:rPr lang="en-IN" smtClean="0"/>
              <a:t>16-11-2023</a:t>
            </a:fld>
            <a:endParaRPr lang="en-IN"/>
          </a:p>
        </p:txBody>
      </p:sp>
      <p:sp>
        <p:nvSpPr>
          <p:cNvPr id="5" name="Footer Placeholder 4">
            <a:extLst>
              <a:ext uri="{FF2B5EF4-FFF2-40B4-BE49-F238E27FC236}">
                <a16:creationId xmlns:a16="http://schemas.microsoft.com/office/drawing/2014/main" id="{13D4D10A-7C4A-C0D9-2845-4A3E0B3973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B3C9012-75BF-2D71-FEF7-98AA39A6B89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470791-0458-4F37-8067-CC5E787D3393}" type="slidenum">
              <a:rPr lang="en-IN" smtClean="0"/>
              <a:t>‹#›</a:t>
            </a:fld>
            <a:endParaRPr lang="en-IN"/>
          </a:p>
        </p:txBody>
      </p:sp>
    </p:spTree>
    <p:extLst>
      <p:ext uri="{BB962C8B-B14F-4D97-AF65-F5344CB8AC3E}">
        <p14:creationId xmlns:p14="http://schemas.microsoft.com/office/powerpoint/2010/main" val="15626857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softpedia.com/get/Programming/Packers-Crypters-Protectors/Detect-It-Easy.shtml" TargetMode="External"/><Relationship Id="rId2" Type="http://schemas.openxmlformats.org/officeDocument/2006/relationships/hyperlink" Target="https://x64dbg.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reverseengineeringtips.blogspot.com/2015/01/hashing-utility-20-with-unicode-support.html" TargetMode="External"/><Relationship Id="rId2" Type="http://schemas.openxmlformats.org/officeDocument/2006/relationships/image" Target="../media/image16.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1.xml"/><Relationship Id="rId4" Type="http://schemas.openxmlformats.org/officeDocument/2006/relationships/image" Target="../media/image2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5C2B9-E2D9-E14D-9B35-4B08764C7572}"/>
              </a:ext>
            </a:extLst>
          </p:cNvPr>
          <p:cNvSpPr>
            <a:spLocks noGrp="1"/>
          </p:cNvSpPr>
          <p:nvPr>
            <p:ph type="ctrTitle"/>
          </p:nvPr>
        </p:nvSpPr>
        <p:spPr>
          <a:xfrm>
            <a:off x="1524000" y="207963"/>
            <a:ext cx="8475133" cy="791104"/>
          </a:xfrm>
        </p:spPr>
        <p:txBody>
          <a:bodyPr>
            <a:normAutofit/>
          </a:bodyPr>
          <a:lstStyle/>
          <a:p>
            <a:r>
              <a:rPr lang="en-US" sz="2000" b="1" i="0" dirty="0">
                <a:effectLst/>
                <a:latin typeface="Graphik LC Web"/>
              </a:rPr>
              <a:t>Step-by-step Malware Analysis Using x64dbg</a:t>
            </a:r>
            <a:br>
              <a:rPr lang="en-US" sz="2000" b="1" i="0" dirty="0">
                <a:effectLst/>
                <a:latin typeface="Graphik LC Web"/>
              </a:rPr>
            </a:br>
            <a:endParaRPr lang="en-IN" sz="2000" dirty="0"/>
          </a:p>
        </p:txBody>
      </p:sp>
      <p:sp>
        <p:nvSpPr>
          <p:cNvPr id="3" name="Subtitle 2">
            <a:extLst>
              <a:ext uri="{FF2B5EF4-FFF2-40B4-BE49-F238E27FC236}">
                <a16:creationId xmlns:a16="http://schemas.microsoft.com/office/drawing/2014/main" id="{9E6B8F71-8F12-371D-8046-D569ECA57197}"/>
              </a:ext>
            </a:extLst>
          </p:cNvPr>
          <p:cNvSpPr>
            <a:spLocks noGrp="1"/>
          </p:cNvSpPr>
          <p:nvPr>
            <p:ph type="subTitle" idx="1"/>
          </p:nvPr>
        </p:nvSpPr>
        <p:spPr>
          <a:xfrm>
            <a:off x="1524000" y="1078971"/>
            <a:ext cx="9144000" cy="1655762"/>
          </a:xfrm>
        </p:spPr>
        <p:txBody>
          <a:bodyPr/>
          <a:lstStyle/>
          <a:p>
            <a:r>
              <a:rPr lang="en-IN" dirty="0"/>
              <a:t>Steps to </a:t>
            </a:r>
            <a:r>
              <a:rPr lang="en-IN" dirty="0" err="1"/>
              <a:t>Dwonload</a:t>
            </a:r>
            <a:r>
              <a:rPr lang="en-IN" dirty="0"/>
              <a:t> x64 </a:t>
            </a:r>
            <a:r>
              <a:rPr lang="en-IN" dirty="0" err="1"/>
              <a:t>dbg</a:t>
            </a:r>
            <a:r>
              <a:rPr lang="en-IN" dirty="0"/>
              <a:t> and setting it up on </a:t>
            </a:r>
            <a:r>
              <a:rPr lang="en-IN" dirty="0" err="1"/>
              <a:t>virtualbox</a:t>
            </a:r>
            <a:r>
              <a:rPr lang="en-IN" dirty="0"/>
              <a:t>.</a:t>
            </a:r>
          </a:p>
        </p:txBody>
      </p:sp>
      <p:sp>
        <p:nvSpPr>
          <p:cNvPr id="4" name="TextBox 3">
            <a:extLst>
              <a:ext uri="{FF2B5EF4-FFF2-40B4-BE49-F238E27FC236}">
                <a16:creationId xmlns:a16="http://schemas.microsoft.com/office/drawing/2014/main" id="{9B881FAF-1ADA-4384-ACC9-C3CBFC7CFAE4}"/>
              </a:ext>
            </a:extLst>
          </p:cNvPr>
          <p:cNvSpPr txBox="1"/>
          <p:nvPr/>
        </p:nvSpPr>
        <p:spPr>
          <a:xfrm>
            <a:off x="1151467" y="1820333"/>
            <a:ext cx="10684933" cy="1200329"/>
          </a:xfrm>
          <a:prstGeom prst="rect">
            <a:avLst/>
          </a:prstGeom>
          <a:noFill/>
        </p:spPr>
        <p:txBody>
          <a:bodyPr wrap="square" rtlCol="0">
            <a:spAutoFit/>
          </a:bodyPr>
          <a:lstStyle/>
          <a:p>
            <a:r>
              <a:rPr lang="en-IN" dirty="0"/>
              <a:t>We need two tools x64dbg and Detect it easy</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X64dbg – which is a disassembler and a debugger tool.</a:t>
            </a:r>
          </a:p>
          <a:p>
            <a:pPr marL="285750" indent="-285750">
              <a:buFont typeface="Arial" panose="020B0604020202020204" pitchFamily="34" charset="0"/>
              <a:buChar char="•"/>
            </a:pPr>
            <a:r>
              <a:rPr lang="en-IN" dirty="0"/>
              <a:t>Detect it easy – portable executable analyser called Detect it easy.</a:t>
            </a:r>
          </a:p>
        </p:txBody>
      </p:sp>
      <p:sp>
        <p:nvSpPr>
          <p:cNvPr id="5" name="TextBox 4">
            <a:extLst>
              <a:ext uri="{FF2B5EF4-FFF2-40B4-BE49-F238E27FC236}">
                <a16:creationId xmlns:a16="http://schemas.microsoft.com/office/drawing/2014/main" id="{6C9C415A-2D60-55E2-0CDE-2691A3CA3012}"/>
              </a:ext>
            </a:extLst>
          </p:cNvPr>
          <p:cNvSpPr txBox="1"/>
          <p:nvPr/>
        </p:nvSpPr>
        <p:spPr>
          <a:xfrm>
            <a:off x="660399" y="3134604"/>
            <a:ext cx="11370733" cy="1754326"/>
          </a:xfrm>
          <a:prstGeom prst="rect">
            <a:avLst/>
          </a:prstGeom>
          <a:noFill/>
        </p:spPr>
        <p:txBody>
          <a:bodyPr wrap="square" rtlCol="0">
            <a:spAutoFit/>
          </a:bodyPr>
          <a:lstStyle/>
          <a:p>
            <a:r>
              <a:rPr lang="en-IN" dirty="0"/>
              <a:t> We are installing these two tools in </a:t>
            </a:r>
            <a:r>
              <a:rPr lang="en-IN" dirty="0" err="1"/>
              <a:t>virtualbox</a:t>
            </a:r>
            <a:r>
              <a:rPr lang="en-IN" dirty="0"/>
              <a:t> in windows </a:t>
            </a:r>
            <a:r>
              <a:rPr lang="en-IN" dirty="0" err="1"/>
              <a:t>os</a:t>
            </a:r>
            <a:r>
              <a:rPr lang="en-IN" dirty="0"/>
              <a:t>.</a:t>
            </a:r>
          </a:p>
          <a:p>
            <a:pPr marL="285750" indent="-285750">
              <a:buFont typeface="Arial" panose="020B0604020202020204" pitchFamily="34" charset="0"/>
              <a:buChar char="•"/>
            </a:pPr>
            <a:r>
              <a:rPr lang="en-IN" dirty="0"/>
              <a:t>  Download links for the tools</a:t>
            </a:r>
          </a:p>
          <a:p>
            <a:pPr marL="285750" indent="-285750">
              <a:buFont typeface="Arial" panose="020B0604020202020204" pitchFamily="34" charset="0"/>
              <a:buChar char="•"/>
            </a:pPr>
            <a:r>
              <a:rPr lang="en-IN" dirty="0"/>
              <a:t>X64 </a:t>
            </a:r>
            <a:r>
              <a:rPr lang="en-IN" dirty="0" err="1"/>
              <a:t>dbg</a:t>
            </a:r>
            <a:r>
              <a:rPr lang="en-IN" dirty="0"/>
              <a:t> – </a:t>
            </a:r>
            <a:r>
              <a:rPr lang="en-IN" dirty="0">
                <a:hlinkClick r:id="rId2"/>
              </a:rPr>
              <a:t>https://x64dbg.com</a:t>
            </a:r>
            <a:endParaRPr lang="en-IN" dirty="0"/>
          </a:p>
          <a:p>
            <a:pPr marL="285750" indent="-285750">
              <a:buFont typeface="Arial" panose="020B0604020202020204" pitchFamily="34" charset="0"/>
              <a:buChar char="•"/>
            </a:pPr>
            <a:r>
              <a:rPr lang="en-IN" dirty="0"/>
              <a:t>Detect it easy - </a:t>
            </a:r>
            <a:r>
              <a:rPr lang="en-US" dirty="0">
                <a:hlinkClick r:id="rId3"/>
              </a:rPr>
              <a:t>Detect It Easy - Download &amp; Review (softpedia.com)</a:t>
            </a:r>
            <a:endParaRPr lang="en-US" dirty="0"/>
          </a:p>
          <a:p>
            <a:pPr marL="285750" indent="-285750">
              <a:buFont typeface="Arial" panose="020B0604020202020204" pitchFamily="34" charset="0"/>
              <a:buChar char="•"/>
            </a:pPr>
            <a:r>
              <a:rPr lang="en-US" dirty="0"/>
              <a:t>Extract the zip file of x64dbg and detect it easy on your local disk c.</a:t>
            </a:r>
            <a:endParaRPr lang="en-IN" dirty="0"/>
          </a:p>
          <a:p>
            <a:r>
              <a:rPr lang="en-IN" dirty="0"/>
              <a:t> </a:t>
            </a:r>
          </a:p>
        </p:txBody>
      </p:sp>
    </p:spTree>
    <p:extLst>
      <p:ext uri="{BB962C8B-B14F-4D97-AF65-F5344CB8AC3E}">
        <p14:creationId xmlns:p14="http://schemas.microsoft.com/office/powerpoint/2010/main" val="19261574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5C2B9-E2D9-E14D-9B35-4B08764C7572}"/>
              </a:ext>
            </a:extLst>
          </p:cNvPr>
          <p:cNvSpPr>
            <a:spLocks noGrp="1"/>
          </p:cNvSpPr>
          <p:nvPr>
            <p:ph type="ctrTitle"/>
          </p:nvPr>
        </p:nvSpPr>
        <p:spPr>
          <a:xfrm>
            <a:off x="1524000" y="207963"/>
            <a:ext cx="8475133" cy="791104"/>
          </a:xfrm>
        </p:spPr>
        <p:txBody>
          <a:bodyPr>
            <a:normAutofit/>
          </a:bodyPr>
          <a:lstStyle/>
          <a:p>
            <a:r>
              <a:rPr lang="en-US" sz="2000" b="1" i="0" dirty="0">
                <a:effectLst/>
                <a:latin typeface="Graphik LC Web"/>
              </a:rPr>
              <a:t>Step-by-step Malware Analysis Using x64dbg</a:t>
            </a:r>
            <a:br>
              <a:rPr lang="en-US" sz="2000" b="1" i="0" dirty="0">
                <a:effectLst/>
                <a:latin typeface="Graphik LC Web"/>
              </a:rPr>
            </a:br>
            <a:endParaRPr lang="en-IN" sz="2000" dirty="0"/>
          </a:p>
        </p:txBody>
      </p:sp>
      <p:sp>
        <p:nvSpPr>
          <p:cNvPr id="7" name="Subtitle 6">
            <a:extLst>
              <a:ext uri="{FF2B5EF4-FFF2-40B4-BE49-F238E27FC236}">
                <a16:creationId xmlns:a16="http://schemas.microsoft.com/office/drawing/2014/main" id="{9B203D53-F43A-BBF1-0338-BA7337FEA7CF}"/>
              </a:ext>
            </a:extLst>
          </p:cNvPr>
          <p:cNvSpPr>
            <a:spLocks noGrp="1"/>
          </p:cNvSpPr>
          <p:nvPr>
            <p:ph type="subTitle" idx="1"/>
          </p:nvPr>
        </p:nvSpPr>
        <p:spPr>
          <a:xfrm>
            <a:off x="426508" y="4812771"/>
            <a:ext cx="9144000" cy="1655762"/>
          </a:xfrm>
        </p:spPr>
        <p:txBody>
          <a:bodyPr>
            <a:normAutofit/>
          </a:bodyPr>
          <a:lstStyle/>
          <a:p>
            <a:pPr algn="l"/>
            <a:br>
              <a:rPr lang="en-US" sz="1800" dirty="0"/>
            </a:br>
            <a:r>
              <a:rPr lang="en-US" sz="1800" b="0" i="0" dirty="0">
                <a:effectLst/>
                <a:latin typeface="Arial" panose="020B0604020202020204" pitchFamily="34" charset="0"/>
              </a:rPr>
              <a:t>1. </a:t>
            </a:r>
            <a:r>
              <a:rPr lang="en-US" sz="1800" b="1" i="0" dirty="0">
                <a:effectLst/>
                <a:latin typeface="Arial" panose="020B0604020202020204" pitchFamily="34" charset="0"/>
              </a:rPr>
              <a:t>The Configuration.</a:t>
            </a:r>
            <a:br>
              <a:rPr lang="en-US" sz="1800" dirty="0"/>
            </a:br>
            <a:r>
              <a:rPr lang="en-US" sz="1800" b="0" i="0" dirty="0">
                <a:effectLst/>
                <a:latin typeface="Arial" panose="020B0604020202020204" pitchFamily="34" charset="0"/>
              </a:rPr>
              <a:t>Configuring x64dbg is quite simple making the process much more user friendly. To access the configuration dialog, simply go to the Options menu and click Preferences. In the first tab labeled Events, you can configure what events you want x64_dbg to break on when they occur.</a:t>
            </a:r>
            <a:endParaRPr lang="en-IN" sz="1800" dirty="0"/>
          </a:p>
        </p:txBody>
      </p:sp>
      <p:pic>
        <p:nvPicPr>
          <p:cNvPr id="1026" name="Picture 2">
            <a:extLst>
              <a:ext uri="{FF2B5EF4-FFF2-40B4-BE49-F238E27FC236}">
                <a16:creationId xmlns:a16="http://schemas.microsoft.com/office/drawing/2014/main" id="{A7B9DC11-D951-5D81-B1F8-84DD0561E6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508" y="793221"/>
            <a:ext cx="5601758" cy="38041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94533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5C2B9-E2D9-E14D-9B35-4B08764C7572}"/>
              </a:ext>
            </a:extLst>
          </p:cNvPr>
          <p:cNvSpPr>
            <a:spLocks noGrp="1"/>
          </p:cNvSpPr>
          <p:nvPr>
            <p:ph type="ctrTitle"/>
          </p:nvPr>
        </p:nvSpPr>
        <p:spPr>
          <a:xfrm>
            <a:off x="1524000" y="207963"/>
            <a:ext cx="8475133" cy="791104"/>
          </a:xfrm>
        </p:spPr>
        <p:txBody>
          <a:bodyPr>
            <a:normAutofit/>
          </a:bodyPr>
          <a:lstStyle/>
          <a:p>
            <a:r>
              <a:rPr lang="en-US" sz="2000" b="1" i="0" dirty="0">
                <a:effectLst/>
                <a:latin typeface="Graphik LC Web"/>
              </a:rPr>
              <a:t>Step-by-step Malware Analysis Using x64dbg</a:t>
            </a:r>
            <a:br>
              <a:rPr lang="en-US" sz="2000" b="1" i="0" dirty="0">
                <a:effectLst/>
                <a:latin typeface="Graphik LC Web"/>
              </a:rPr>
            </a:br>
            <a:endParaRPr lang="en-IN" sz="2000" dirty="0"/>
          </a:p>
        </p:txBody>
      </p:sp>
      <p:sp>
        <p:nvSpPr>
          <p:cNvPr id="7" name="Subtitle 6">
            <a:extLst>
              <a:ext uri="{FF2B5EF4-FFF2-40B4-BE49-F238E27FC236}">
                <a16:creationId xmlns:a16="http://schemas.microsoft.com/office/drawing/2014/main" id="{9B203D53-F43A-BBF1-0338-BA7337FEA7CF}"/>
              </a:ext>
            </a:extLst>
          </p:cNvPr>
          <p:cNvSpPr>
            <a:spLocks noGrp="1"/>
          </p:cNvSpPr>
          <p:nvPr>
            <p:ph type="subTitle" idx="1"/>
          </p:nvPr>
        </p:nvSpPr>
        <p:spPr>
          <a:xfrm>
            <a:off x="87841" y="3150659"/>
            <a:ext cx="9144000" cy="1655762"/>
          </a:xfrm>
        </p:spPr>
        <p:txBody>
          <a:bodyPr>
            <a:noAutofit/>
          </a:bodyPr>
          <a:lstStyle/>
          <a:p>
            <a:pPr algn="l"/>
            <a:br>
              <a:rPr lang="en-US" sz="1050" dirty="0"/>
            </a:br>
            <a:r>
              <a:rPr lang="en-US" sz="1050" b="0" i="0" dirty="0">
                <a:effectLst/>
                <a:latin typeface="Arial" panose="020B0604020202020204" pitchFamily="34" charset="0"/>
              </a:rPr>
              <a:t>The configuration in the screenshot above is what </a:t>
            </a:r>
            <a:r>
              <a:rPr lang="en-US" sz="1050" b="1" i="0" dirty="0">
                <a:effectLst/>
                <a:latin typeface="Arial" panose="020B0604020202020204" pitchFamily="34" charset="0"/>
              </a:rPr>
              <a:t>System Breakpoint:</a:t>
            </a:r>
            <a:r>
              <a:rPr lang="en-US" sz="1050" b="0" i="0" dirty="0">
                <a:effectLst/>
                <a:latin typeface="Arial" panose="020B0604020202020204" pitchFamily="34" charset="0"/>
              </a:rPr>
              <a:t> When loading a new process, the will cause x64dbg to break in the system function which initializes the application you are attempting to debug.</a:t>
            </a:r>
            <a:br>
              <a:rPr lang="en-US" sz="1050" dirty="0"/>
            </a:br>
            <a:br>
              <a:rPr lang="en-US" sz="1050" dirty="0"/>
            </a:br>
            <a:r>
              <a:rPr lang="en-US" sz="1050" b="1" i="0" dirty="0">
                <a:effectLst/>
                <a:latin typeface="Arial" panose="020B0604020202020204" pitchFamily="34" charset="0"/>
              </a:rPr>
              <a:t>TLS Callbacks:</a:t>
            </a:r>
            <a:r>
              <a:rPr lang="en-US" sz="1050" b="0" i="0" dirty="0">
                <a:effectLst/>
                <a:latin typeface="Arial" panose="020B0604020202020204" pitchFamily="34" charset="0"/>
              </a:rPr>
              <a:t> The TLS Callback is a function which is called before the main application runs. This can set parameters or even be used by certain protectors to implement anti-debug technology. This allows you to break on this function.</a:t>
            </a:r>
            <a:br>
              <a:rPr lang="en-US" sz="1050" dirty="0"/>
            </a:br>
            <a:br>
              <a:rPr lang="en-US" sz="1050" dirty="0"/>
            </a:br>
            <a:r>
              <a:rPr lang="en-US" sz="1050" b="1" i="0" dirty="0">
                <a:effectLst/>
                <a:latin typeface="Arial" panose="020B0604020202020204" pitchFamily="34" charset="0"/>
              </a:rPr>
              <a:t>Entry Breakpoint: </a:t>
            </a:r>
            <a:r>
              <a:rPr lang="en-US" sz="1050" b="0" i="0" dirty="0">
                <a:effectLst/>
                <a:latin typeface="Arial" panose="020B0604020202020204" pitchFamily="34" charset="0"/>
              </a:rPr>
              <a:t>This causes x64dbg to break on the Entry point on the application. For general debugging, this is the only breakpoint you will need to have checked.</a:t>
            </a:r>
            <a:br>
              <a:rPr lang="en-US" sz="1050" dirty="0"/>
            </a:br>
            <a:r>
              <a:rPr lang="en-US" sz="1050" b="1" i="0" dirty="0">
                <a:effectLst/>
                <a:latin typeface="Arial" panose="020B0604020202020204" pitchFamily="34" charset="0"/>
              </a:rPr>
              <a:t>DLL Entry:</a:t>
            </a:r>
            <a:r>
              <a:rPr lang="en-US" sz="1050" b="0" i="0" dirty="0">
                <a:effectLst/>
                <a:latin typeface="Arial" panose="020B0604020202020204" pitchFamily="34" charset="0"/>
              </a:rPr>
              <a:t> This will break on the entry point of any DLL which is loaded by the process you are debugging.</a:t>
            </a:r>
            <a:br>
              <a:rPr lang="en-US" sz="1050" dirty="0"/>
            </a:br>
            <a:br>
              <a:rPr lang="en-US" sz="1050" dirty="0"/>
            </a:br>
            <a:r>
              <a:rPr lang="en-US" sz="1050" b="1" i="0" dirty="0">
                <a:effectLst/>
                <a:latin typeface="Arial" panose="020B0604020202020204" pitchFamily="34" charset="0"/>
              </a:rPr>
              <a:t>Thread Entry:</a:t>
            </a:r>
            <a:r>
              <a:rPr lang="en-US" sz="1050" b="0" i="0" dirty="0">
                <a:effectLst/>
                <a:latin typeface="Arial" panose="020B0604020202020204" pitchFamily="34" charset="0"/>
              </a:rPr>
              <a:t> This will break on the first instruction of any new thread initialized by the current process.</a:t>
            </a:r>
            <a:br>
              <a:rPr lang="en-US" sz="1050" dirty="0"/>
            </a:br>
            <a:br>
              <a:rPr lang="en-US" sz="1050" dirty="0"/>
            </a:br>
            <a:r>
              <a:rPr lang="en-US" sz="1050" b="1" i="0" dirty="0">
                <a:effectLst/>
                <a:latin typeface="Arial" panose="020B0604020202020204" pitchFamily="34" charset="0"/>
              </a:rPr>
              <a:t>Attach Breakpoint: </a:t>
            </a:r>
            <a:r>
              <a:rPr lang="en-US" sz="1050" b="0" i="0" dirty="0">
                <a:effectLst/>
                <a:latin typeface="Arial" panose="020B0604020202020204" pitchFamily="34" charset="0"/>
              </a:rPr>
              <a:t>When this is checked, it will cause x64dbg to break in the </a:t>
            </a:r>
            <a:r>
              <a:rPr lang="en-US" sz="1050" b="0" i="0" dirty="0" err="1">
                <a:effectLst/>
                <a:latin typeface="Arial" panose="020B0604020202020204" pitchFamily="34" charset="0"/>
              </a:rPr>
              <a:t>DbgUiRemoteBreakin</a:t>
            </a:r>
            <a:r>
              <a:rPr lang="en-US" sz="1050" b="0" i="0" dirty="0">
                <a:effectLst/>
                <a:latin typeface="Arial" panose="020B0604020202020204" pitchFamily="34" charset="0"/>
              </a:rPr>
              <a:t> function when attaching to an active process. If unchecked, it will attach without suspending the process.</a:t>
            </a:r>
            <a:br>
              <a:rPr lang="en-US" sz="1050" dirty="0"/>
            </a:br>
            <a:br>
              <a:rPr lang="en-US" sz="1050" b="0" i="0" dirty="0">
                <a:effectLst/>
                <a:latin typeface="Arial" panose="020B0604020202020204" pitchFamily="34" charset="0"/>
              </a:rPr>
            </a:br>
            <a:r>
              <a:rPr lang="en-US" sz="1050" b="1" i="0" dirty="0">
                <a:effectLst/>
                <a:latin typeface="Arial" panose="020B0604020202020204" pitchFamily="34" charset="0"/>
              </a:rPr>
              <a:t>DLL Load/DLL Unload:</a:t>
            </a:r>
            <a:r>
              <a:rPr lang="en-US" sz="1050" b="0" i="0" dirty="0">
                <a:effectLst/>
                <a:latin typeface="Arial" panose="020B0604020202020204" pitchFamily="34" charset="0"/>
              </a:rPr>
              <a:t> This will break in the system function when a new library(DLL) is loaded into or unloaded from the active process. The DLL Load breakpoint occurs before any of its code is executed.</a:t>
            </a:r>
            <a:br>
              <a:rPr lang="en-US" sz="1050" dirty="0"/>
            </a:br>
            <a:br>
              <a:rPr lang="en-US" sz="1050" dirty="0"/>
            </a:br>
            <a:r>
              <a:rPr lang="en-US" sz="1050" b="1" i="0" dirty="0">
                <a:effectLst/>
                <a:latin typeface="Arial" panose="020B0604020202020204" pitchFamily="34" charset="0"/>
              </a:rPr>
              <a:t>Thread Start/Thread End: </a:t>
            </a:r>
            <a:r>
              <a:rPr lang="en-US" sz="1050" b="0" i="0" dirty="0">
                <a:effectLst/>
                <a:latin typeface="Arial" panose="020B0604020202020204" pitchFamily="34" charset="0"/>
              </a:rPr>
              <a:t>This allows us to break in system when our debugged application initializes or terminates a </a:t>
            </a:r>
            <a:r>
              <a:rPr lang="en-US" sz="1050" b="0" i="0" dirty="0" err="1">
                <a:effectLst/>
                <a:latin typeface="Arial" panose="020B0604020202020204" pitchFamily="34" charset="0"/>
              </a:rPr>
              <a:t>thread.I</a:t>
            </a:r>
            <a:r>
              <a:rPr lang="en-US" sz="1050" b="0" i="0" dirty="0">
                <a:effectLst/>
                <a:latin typeface="Arial" panose="020B0604020202020204" pitchFamily="34" charset="0"/>
              </a:rPr>
              <a:t> typically recommend and use for simple debugging.</a:t>
            </a:r>
            <a:endParaRPr lang="en-IN" sz="1050" dirty="0"/>
          </a:p>
        </p:txBody>
      </p:sp>
      <p:pic>
        <p:nvPicPr>
          <p:cNvPr id="2050" name="Picture 2">
            <a:extLst>
              <a:ext uri="{FF2B5EF4-FFF2-40B4-BE49-F238E27FC236}">
                <a16:creationId xmlns:a16="http://schemas.microsoft.com/office/drawing/2014/main" id="{9A186351-D180-CDD0-1238-305FECE1CF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908" y="620449"/>
            <a:ext cx="2981325" cy="2352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01803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5C2B9-E2D9-E14D-9B35-4B08764C7572}"/>
              </a:ext>
            </a:extLst>
          </p:cNvPr>
          <p:cNvSpPr>
            <a:spLocks noGrp="1"/>
          </p:cNvSpPr>
          <p:nvPr>
            <p:ph type="ctrTitle"/>
          </p:nvPr>
        </p:nvSpPr>
        <p:spPr>
          <a:xfrm>
            <a:off x="1524000" y="207963"/>
            <a:ext cx="8475133" cy="791104"/>
          </a:xfrm>
        </p:spPr>
        <p:txBody>
          <a:bodyPr>
            <a:normAutofit/>
          </a:bodyPr>
          <a:lstStyle/>
          <a:p>
            <a:r>
              <a:rPr lang="en-US" sz="2000" b="1" i="0" dirty="0">
                <a:effectLst/>
                <a:latin typeface="Graphik LC Web"/>
              </a:rPr>
              <a:t>Step-by-step Malware Analysis Using x64dbg</a:t>
            </a:r>
            <a:br>
              <a:rPr lang="en-US" sz="2000" b="1" i="0" dirty="0">
                <a:effectLst/>
                <a:latin typeface="Graphik LC Web"/>
              </a:rPr>
            </a:br>
            <a:endParaRPr lang="en-IN" sz="2000" dirty="0"/>
          </a:p>
        </p:txBody>
      </p:sp>
      <p:pic>
        <p:nvPicPr>
          <p:cNvPr id="3074" name="Picture 2">
            <a:extLst>
              <a:ext uri="{FF2B5EF4-FFF2-40B4-BE49-F238E27FC236}">
                <a16:creationId xmlns:a16="http://schemas.microsoft.com/office/drawing/2014/main" id="{D6EE0C52-1E49-D4F2-C8D7-AAACBDC099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900" y="807509"/>
            <a:ext cx="2971800" cy="234315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1D0D80F-2A05-282C-7ED0-64FD544C8F3F}"/>
              </a:ext>
            </a:extLst>
          </p:cNvPr>
          <p:cNvSpPr txBox="1"/>
          <p:nvPr/>
        </p:nvSpPr>
        <p:spPr>
          <a:xfrm>
            <a:off x="97366" y="3030273"/>
            <a:ext cx="11723159" cy="1569660"/>
          </a:xfrm>
          <a:prstGeom prst="rect">
            <a:avLst/>
          </a:prstGeom>
          <a:noFill/>
        </p:spPr>
        <p:txBody>
          <a:bodyPr wrap="square">
            <a:spAutoFit/>
          </a:bodyPr>
          <a:lstStyle/>
          <a:p>
            <a:br>
              <a:rPr lang="en-US" sz="1200" dirty="0"/>
            </a:br>
            <a:r>
              <a:rPr lang="en-US" sz="1200" b="0" i="0" dirty="0">
                <a:effectLst/>
                <a:latin typeface="Arial" panose="020B0604020202020204" pitchFamily="34" charset="0"/>
              </a:rPr>
              <a:t>In the Engine pane, you will find a few advanced settings for the debugging engine. This should just be left as default in most cases, but here is a rundown of how they work.</a:t>
            </a:r>
            <a:br>
              <a:rPr lang="en-US" sz="1200" dirty="0"/>
            </a:br>
            <a:br>
              <a:rPr lang="en-US" sz="1200" dirty="0"/>
            </a:br>
            <a:r>
              <a:rPr lang="en-US" sz="1200" b="1" i="0" dirty="0">
                <a:effectLst/>
                <a:latin typeface="Arial" panose="020B0604020202020204" pitchFamily="34" charset="0"/>
              </a:rPr>
              <a:t>Enable Debug Privilege: </a:t>
            </a:r>
            <a:r>
              <a:rPr lang="en-US" sz="1200" b="0" i="0" dirty="0">
                <a:effectLst/>
                <a:latin typeface="Arial" panose="020B0604020202020204" pitchFamily="34" charset="0"/>
              </a:rPr>
              <a:t>This allows you to attach to system processes.</a:t>
            </a:r>
            <a:br>
              <a:rPr lang="en-US" sz="1200" dirty="0"/>
            </a:br>
            <a:r>
              <a:rPr lang="en-US" sz="1200" b="1" i="0" dirty="0">
                <a:effectLst/>
                <a:latin typeface="Arial" panose="020B0604020202020204" pitchFamily="34" charset="0"/>
              </a:rPr>
              <a:t>Breakpoint Type:</a:t>
            </a:r>
            <a:r>
              <a:rPr lang="en-US" sz="1200" b="0" i="0" dirty="0">
                <a:effectLst/>
                <a:latin typeface="Arial" panose="020B0604020202020204" pitchFamily="34" charset="0"/>
              </a:rPr>
              <a:t> This feature allows you to try different types of breakpoints if your program detects or blocks the default INT3.</a:t>
            </a:r>
            <a:br>
              <a:rPr lang="en-US" sz="1200" dirty="0"/>
            </a:br>
            <a:r>
              <a:rPr lang="en-US" sz="1200" b="1" i="0" dirty="0">
                <a:effectLst/>
                <a:latin typeface="Arial" panose="020B0604020202020204" pitchFamily="34" charset="0"/>
              </a:rPr>
              <a:t>Undecorate Symbol Names:</a:t>
            </a:r>
            <a:r>
              <a:rPr lang="en-US" sz="1200" b="0" i="0" dirty="0">
                <a:effectLst/>
                <a:latin typeface="Arial" panose="020B0604020202020204" pitchFamily="34" charset="0"/>
              </a:rPr>
              <a:t> This makes symbol names look cleaner. It is an aesthetic feature.</a:t>
            </a:r>
            <a:br>
              <a:rPr lang="en-US" sz="1200" dirty="0"/>
            </a:br>
            <a:endParaRPr lang="en-IN" sz="1200" dirty="0"/>
          </a:p>
        </p:txBody>
      </p:sp>
      <p:pic>
        <p:nvPicPr>
          <p:cNvPr id="3076" name="Picture 4">
            <a:extLst>
              <a:ext uri="{FF2B5EF4-FFF2-40B4-BE49-F238E27FC236}">
                <a16:creationId xmlns:a16="http://schemas.microsoft.com/office/drawing/2014/main" id="{6A905443-D98A-98AC-010E-5000C2FCB3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900" y="4460497"/>
            <a:ext cx="2971800" cy="23622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BEFF2C0-E49F-7104-9E4C-53BA936D5124}"/>
              </a:ext>
            </a:extLst>
          </p:cNvPr>
          <p:cNvSpPr txBox="1"/>
          <p:nvPr/>
        </p:nvSpPr>
        <p:spPr>
          <a:xfrm>
            <a:off x="3437467" y="5133765"/>
            <a:ext cx="6096000" cy="1015663"/>
          </a:xfrm>
          <a:prstGeom prst="rect">
            <a:avLst/>
          </a:prstGeom>
          <a:noFill/>
        </p:spPr>
        <p:txBody>
          <a:bodyPr wrap="square">
            <a:spAutoFit/>
          </a:bodyPr>
          <a:lstStyle/>
          <a:p>
            <a:r>
              <a:rPr lang="en-US" sz="1200" b="0" i="0" dirty="0">
                <a:effectLst/>
                <a:latin typeface="Arial" panose="020B0604020202020204" pitchFamily="34" charset="0"/>
              </a:rPr>
              <a:t>In the Exceptions pane, you can tell x64_dbg which exceptions you would like to ignore and pass to the program. Leaving this blank will let x64_dbg break on every exception. If you want to ignore all exceptions, add the range 0-ffffffff using the Add Range button. The Add Last button will allow you to add the most recent exception which the program you are currently debugging incurred to the ignore list.</a:t>
            </a:r>
            <a:endParaRPr lang="en-IN" sz="1200" dirty="0"/>
          </a:p>
        </p:txBody>
      </p:sp>
    </p:spTree>
    <p:extLst>
      <p:ext uri="{BB962C8B-B14F-4D97-AF65-F5344CB8AC3E}">
        <p14:creationId xmlns:p14="http://schemas.microsoft.com/office/powerpoint/2010/main" val="19200732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5C2B9-E2D9-E14D-9B35-4B08764C7572}"/>
              </a:ext>
            </a:extLst>
          </p:cNvPr>
          <p:cNvSpPr>
            <a:spLocks noGrp="1"/>
          </p:cNvSpPr>
          <p:nvPr>
            <p:ph type="ctrTitle"/>
          </p:nvPr>
        </p:nvSpPr>
        <p:spPr>
          <a:xfrm>
            <a:off x="1524000" y="207963"/>
            <a:ext cx="8475133" cy="791104"/>
          </a:xfrm>
        </p:spPr>
        <p:txBody>
          <a:bodyPr>
            <a:normAutofit/>
          </a:bodyPr>
          <a:lstStyle/>
          <a:p>
            <a:r>
              <a:rPr lang="en-US" sz="2000" b="1" i="0" dirty="0">
                <a:effectLst/>
                <a:latin typeface="Graphik LC Web"/>
              </a:rPr>
              <a:t>Step-by-step Malware Analysis Using x64dbg</a:t>
            </a:r>
            <a:br>
              <a:rPr lang="en-US" sz="2000" b="1" i="0" dirty="0">
                <a:effectLst/>
                <a:latin typeface="Graphik LC Web"/>
              </a:rPr>
            </a:br>
            <a:endParaRPr lang="en-IN" sz="2000" dirty="0"/>
          </a:p>
        </p:txBody>
      </p:sp>
      <p:pic>
        <p:nvPicPr>
          <p:cNvPr id="4098" name="Picture 2">
            <a:extLst>
              <a:ext uri="{FF2B5EF4-FFF2-40B4-BE49-F238E27FC236}">
                <a16:creationId xmlns:a16="http://schemas.microsoft.com/office/drawing/2014/main" id="{68A5FF4C-0A42-8CF6-24A4-4D0E86CBF9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738" y="796397"/>
            <a:ext cx="2981325" cy="235267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866C198-8209-9B21-A807-13375DA428CA}"/>
              </a:ext>
            </a:extLst>
          </p:cNvPr>
          <p:cNvSpPr txBox="1"/>
          <p:nvPr/>
        </p:nvSpPr>
        <p:spPr>
          <a:xfrm>
            <a:off x="3309938" y="3879808"/>
            <a:ext cx="8958262" cy="2492990"/>
          </a:xfrm>
          <a:prstGeom prst="rect">
            <a:avLst/>
          </a:prstGeom>
          <a:noFill/>
        </p:spPr>
        <p:txBody>
          <a:bodyPr wrap="square">
            <a:spAutoFit/>
          </a:bodyPr>
          <a:lstStyle/>
          <a:p>
            <a:r>
              <a:rPr lang="en-US" sz="1200" b="0" i="0" dirty="0">
                <a:effectLst/>
                <a:latin typeface="Arial" panose="020B0604020202020204" pitchFamily="34" charset="0"/>
              </a:rPr>
              <a:t>We can use the </a:t>
            </a:r>
            <a:r>
              <a:rPr lang="en-US" sz="1200" b="0" i="0" dirty="0" err="1">
                <a:effectLst/>
                <a:latin typeface="Arial" panose="020B0604020202020204" pitchFamily="34" charset="0"/>
              </a:rPr>
              <a:t>Disasm</a:t>
            </a:r>
            <a:r>
              <a:rPr lang="en-US" sz="1200" b="0" i="0" dirty="0">
                <a:effectLst/>
                <a:latin typeface="Arial" panose="020B0604020202020204" pitchFamily="34" charset="0"/>
              </a:rPr>
              <a:t> pane in order to change the appearance of the disassembled instructions. Here is a gist of what these options do.</a:t>
            </a:r>
            <a:br>
              <a:rPr lang="en-US" sz="1200" dirty="0"/>
            </a:br>
            <a:br>
              <a:rPr lang="en-US" sz="1200" dirty="0"/>
            </a:br>
            <a:r>
              <a:rPr lang="en-US" sz="1200" b="1" i="0" dirty="0">
                <a:effectLst/>
                <a:latin typeface="Arial" panose="020B0604020202020204" pitchFamily="34" charset="0"/>
              </a:rPr>
              <a:t>Argument Spaces:</a:t>
            </a:r>
            <a:r>
              <a:rPr lang="en-US" sz="1200" b="0" i="0" dirty="0">
                <a:effectLst/>
                <a:latin typeface="Arial" panose="020B0604020202020204" pitchFamily="34" charset="0"/>
              </a:rPr>
              <a:t> This will put a space after every argument changing </a:t>
            </a:r>
            <a:r>
              <a:rPr lang="en-US" sz="1200" b="1" i="0" dirty="0">
                <a:effectLst/>
                <a:latin typeface="Arial" panose="020B0604020202020204" pitchFamily="34" charset="0"/>
              </a:rPr>
              <a:t>mov </a:t>
            </a:r>
            <a:r>
              <a:rPr lang="en-US" sz="1200" b="1" i="0" dirty="0" err="1">
                <a:effectLst/>
                <a:latin typeface="Arial" panose="020B0604020202020204" pitchFamily="34" charset="0"/>
              </a:rPr>
              <a:t>rax,rdx</a:t>
            </a:r>
            <a:r>
              <a:rPr lang="en-US" sz="1200" b="0" i="0" dirty="0">
                <a:effectLst/>
                <a:latin typeface="Arial" panose="020B0604020202020204" pitchFamily="34" charset="0"/>
              </a:rPr>
              <a:t> to </a:t>
            </a:r>
            <a:r>
              <a:rPr lang="en-US" sz="1200" b="1" i="0" dirty="0">
                <a:effectLst/>
                <a:latin typeface="Arial" panose="020B0604020202020204" pitchFamily="34" charset="0"/>
              </a:rPr>
              <a:t>mov </a:t>
            </a:r>
            <a:r>
              <a:rPr lang="en-US" sz="1200" b="1" i="0" dirty="0" err="1">
                <a:effectLst/>
                <a:latin typeface="Arial" panose="020B0604020202020204" pitchFamily="34" charset="0"/>
              </a:rPr>
              <a:t>rax</a:t>
            </a:r>
            <a:r>
              <a:rPr lang="en-US" sz="1200" b="1" i="0" dirty="0">
                <a:effectLst/>
                <a:latin typeface="Arial" panose="020B0604020202020204" pitchFamily="34" charset="0"/>
              </a:rPr>
              <a:t>, </a:t>
            </a:r>
            <a:r>
              <a:rPr lang="en-US" sz="1200" b="1" i="0" dirty="0" err="1">
                <a:effectLst/>
                <a:latin typeface="Arial" panose="020B0604020202020204" pitchFamily="34" charset="0"/>
              </a:rPr>
              <a:t>rdx</a:t>
            </a:r>
            <a:r>
              <a:rPr lang="en-US" sz="1200" b="0" i="0" dirty="0">
                <a:effectLst/>
                <a:latin typeface="Arial" panose="020B0604020202020204" pitchFamily="34" charset="0"/>
              </a:rPr>
              <a:t>. It essentially puts a space after every comma.</a:t>
            </a:r>
            <a:br>
              <a:rPr lang="en-US" sz="1200" dirty="0"/>
            </a:br>
            <a:br>
              <a:rPr lang="en-US" sz="1200" dirty="0"/>
            </a:br>
            <a:r>
              <a:rPr lang="en-US" sz="1200" b="1" i="0" dirty="0">
                <a:effectLst/>
                <a:latin typeface="Arial" panose="020B0604020202020204" pitchFamily="34" charset="0"/>
              </a:rPr>
              <a:t>Memory Spaces:</a:t>
            </a:r>
            <a:r>
              <a:rPr lang="en-US" sz="1200" b="0" i="0" dirty="0">
                <a:effectLst/>
                <a:latin typeface="Arial" panose="020B0604020202020204" pitchFamily="34" charset="0"/>
              </a:rPr>
              <a:t> This puts a space in between memory reference instructions and their operators. This causes </a:t>
            </a:r>
            <a:r>
              <a:rPr lang="en-US" sz="1200" b="1" i="0" dirty="0">
                <a:effectLst/>
                <a:latin typeface="Arial" panose="020B0604020202020204" pitchFamily="34" charset="0"/>
              </a:rPr>
              <a:t>mov </a:t>
            </a:r>
            <a:r>
              <a:rPr lang="en-US" sz="1200" b="1" i="0" dirty="0" err="1">
                <a:effectLst/>
                <a:latin typeface="Arial" panose="020B0604020202020204" pitchFamily="34" charset="0"/>
              </a:rPr>
              <a:t>eax</a:t>
            </a:r>
            <a:r>
              <a:rPr lang="en-US" sz="1200" b="1" i="0" dirty="0">
                <a:effectLst/>
                <a:latin typeface="Arial" panose="020B0604020202020204" pitchFamily="34" charset="0"/>
              </a:rPr>
              <a:t>, byte </a:t>
            </a:r>
            <a:r>
              <a:rPr lang="en-US" sz="1200" b="1" i="0" dirty="0" err="1">
                <a:effectLst/>
                <a:latin typeface="Arial" panose="020B0604020202020204" pitchFamily="34" charset="0"/>
              </a:rPr>
              <a:t>ptr</a:t>
            </a:r>
            <a:r>
              <a:rPr lang="en-US" sz="1200" b="1" i="0" dirty="0">
                <a:effectLst/>
                <a:latin typeface="Arial" panose="020B0604020202020204" pitchFamily="34" charset="0"/>
              </a:rPr>
              <a:t> ds:[edx+18]</a:t>
            </a:r>
            <a:r>
              <a:rPr lang="en-US" sz="1200" b="0" i="0" dirty="0">
                <a:effectLst/>
                <a:latin typeface="Arial" panose="020B0604020202020204" pitchFamily="34" charset="0"/>
              </a:rPr>
              <a:t> to look like </a:t>
            </a:r>
            <a:r>
              <a:rPr lang="en-US" sz="1200" b="1" i="0" dirty="0">
                <a:effectLst/>
                <a:latin typeface="Arial" panose="020B0604020202020204" pitchFamily="34" charset="0"/>
              </a:rPr>
              <a:t>mov </a:t>
            </a:r>
            <a:r>
              <a:rPr lang="en-US" sz="1200" b="1" i="0" dirty="0" err="1">
                <a:effectLst/>
                <a:latin typeface="Arial" panose="020B0604020202020204" pitchFamily="34" charset="0"/>
              </a:rPr>
              <a:t>eax</a:t>
            </a:r>
            <a:r>
              <a:rPr lang="en-US" sz="1200" b="1" i="0" dirty="0">
                <a:effectLst/>
                <a:latin typeface="Arial" panose="020B0604020202020204" pitchFamily="34" charset="0"/>
              </a:rPr>
              <a:t>, byte </a:t>
            </a:r>
            <a:r>
              <a:rPr lang="en-US" sz="1200" b="1" i="0" dirty="0" err="1">
                <a:effectLst/>
                <a:latin typeface="Arial" panose="020B0604020202020204" pitchFamily="34" charset="0"/>
              </a:rPr>
              <a:t>ptr</a:t>
            </a:r>
            <a:r>
              <a:rPr lang="en-US" sz="1200" b="1" i="0" dirty="0">
                <a:effectLst/>
                <a:latin typeface="Arial" panose="020B0604020202020204" pitchFamily="34" charset="0"/>
              </a:rPr>
              <a:t> ds:[</a:t>
            </a:r>
            <a:r>
              <a:rPr lang="en-US" sz="1200" b="1" i="0" dirty="0" err="1">
                <a:effectLst/>
                <a:latin typeface="Arial" panose="020B0604020202020204" pitchFamily="34" charset="0"/>
              </a:rPr>
              <a:t>edx</a:t>
            </a:r>
            <a:r>
              <a:rPr lang="en-US" sz="1200" b="1" i="0" dirty="0">
                <a:effectLst/>
                <a:latin typeface="Arial" panose="020B0604020202020204" pitchFamily="34" charset="0"/>
              </a:rPr>
              <a:t> + 18].</a:t>
            </a:r>
            <a:br>
              <a:rPr lang="en-US" sz="1200" dirty="0"/>
            </a:br>
            <a:br>
              <a:rPr lang="en-US" sz="1200" dirty="0"/>
            </a:br>
            <a:r>
              <a:rPr lang="en-US" sz="1200" b="1" i="0" dirty="0">
                <a:effectLst/>
                <a:latin typeface="Arial" panose="020B0604020202020204" pitchFamily="34" charset="0"/>
              </a:rPr>
              <a:t>Uppercase: </a:t>
            </a:r>
            <a:r>
              <a:rPr lang="en-US" sz="1200" b="0" i="0" dirty="0">
                <a:effectLst/>
                <a:latin typeface="Arial" panose="020B0604020202020204" pitchFamily="34" charset="0"/>
              </a:rPr>
              <a:t>This changes all of the text to uppercase.</a:t>
            </a:r>
            <a:br>
              <a:rPr lang="en-US" sz="1200" dirty="0"/>
            </a:br>
            <a:br>
              <a:rPr lang="en-US" sz="1200" dirty="0"/>
            </a:br>
            <a:r>
              <a:rPr lang="en-US" sz="1200" b="1" i="0" dirty="0" err="1">
                <a:effectLst/>
                <a:latin typeface="Arial" panose="020B0604020202020204" pitchFamily="34" charset="0"/>
              </a:rPr>
              <a:t>Autocomments</a:t>
            </a:r>
            <a:r>
              <a:rPr lang="en-US" sz="1200" b="1" i="0" dirty="0">
                <a:effectLst/>
                <a:latin typeface="Arial" panose="020B0604020202020204" pitchFamily="34" charset="0"/>
              </a:rPr>
              <a:t> only on CIP:</a:t>
            </a:r>
            <a:r>
              <a:rPr lang="en-US" sz="1200" b="0" i="0" dirty="0">
                <a:effectLst/>
                <a:latin typeface="Arial" panose="020B0604020202020204" pitchFamily="34" charset="0"/>
              </a:rPr>
              <a:t> This will remove all comments, including references from the current disassembly except at the instruction pointer.</a:t>
            </a:r>
            <a:endParaRPr lang="en-IN" sz="1200" dirty="0"/>
          </a:p>
        </p:txBody>
      </p:sp>
      <p:pic>
        <p:nvPicPr>
          <p:cNvPr id="4100" name="Picture 4">
            <a:extLst>
              <a:ext uri="{FF2B5EF4-FFF2-40B4-BE49-F238E27FC236}">
                <a16:creationId xmlns:a16="http://schemas.microsoft.com/office/drawing/2014/main" id="{835D0941-5862-555B-F4BB-6C9E04F8D7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738" y="3865033"/>
            <a:ext cx="2990850" cy="23622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82376A65-635F-58AF-AC86-8FEBB0DF1D1B}"/>
              </a:ext>
            </a:extLst>
          </p:cNvPr>
          <p:cNvSpPr txBox="1"/>
          <p:nvPr/>
        </p:nvSpPr>
        <p:spPr>
          <a:xfrm>
            <a:off x="457200" y="6396363"/>
            <a:ext cx="11024129" cy="276999"/>
          </a:xfrm>
          <a:prstGeom prst="rect">
            <a:avLst/>
          </a:prstGeom>
          <a:noFill/>
        </p:spPr>
        <p:txBody>
          <a:bodyPr wrap="square">
            <a:spAutoFit/>
          </a:bodyPr>
          <a:lstStyle/>
          <a:p>
            <a:r>
              <a:rPr lang="en-US" sz="1200" b="0" i="0" dirty="0">
                <a:effectLst/>
                <a:latin typeface="Arial" panose="020B0604020202020204" pitchFamily="34" charset="0"/>
              </a:rPr>
              <a:t>NOTE : The </a:t>
            </a:r>
            <a:r>
              <a:rPr lang="en-US" sz="1200" b="0" i="0" dirty="0" err="1">
                <a:effectLst/>
                <a:latin typeface="Arial" panose="020B0604020202020204" pitchFamily="34" charset="0"/>
              </a:rPr>
              <a:t>Misc</a:t>
            </a:r>
            <a:r>
              <a:rPr lang="en-US" sz="1200" b="0" i="0" dirty="0">
                <a:effectLst/>
                <a:latin typeface="Arial" panose="020B0604020202020204" pitchFamily="34" charset="0"/>
              </a:rPr>
              <a:t> tab allows you to configure x64_dbg to be the Just in Time Debugger so that the system can attach it to a process whenever a problem occurs.</a:t>
            </a:r>
            <a:endParaRPr lang="en-IN" sz="1200" dirty="0"/>
          </a:p>
        </p:txBody>
      </p:sp>
    </p:spTree>
    <p:extLst>
      <p:ext uri="{BB962C8B-B14F-4D97-AF65-F5344CB8AC3E}">
        <p14:creationId xmlns:p14="http://schemas.microsoft.com/office/powerpoint/2010/main" val="28320421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5C2B9-E2D9-E14D-9B35-4B08764C7572}"/>
              </a:ext>
            </a:extLst>
          </p:cNvPr>
          <p:cNvSpPr>
            <a:spLocks noGrp="1"/>
          </p:cNvSpPr>
          <p:nvPr>
            <p:ph type="ctrTitle"/>
          </p:nvPr>
        </p:nvSpPr>
        <p:spPr>
          <a:xfrm>
            <a:off x="1524000" y="207963"/>
            <a:ext cx="8475133" cy="791104"/>
          </a:xfrm>
        </p:spPr>
        <p:txBody>
          <a:bodyPr>
            <a:normAutofit/>
          </a:bodyPr>
          <a:lstStyle/>
          <a:p>
            <a:r>
              <a:rPr lang="en-US" sz="2000" b="1" i="0" dirty="0">
                <a:effectLst/>
                <a:latin typeface="Graphik LC Web"/>
              </a:rPr>
              <a:t>Step-by-step Malware Analysis Using x64dbg</a:t>
            </a:r>
            <a:br>
              <a:rPr lang="en-US" sz="2000" b="1" i="0" dirty="0">
                <a:effectLst/>
                <a:latin typeface="Graphik LC Web"/>
              </a:rPr>
            </a:br>
            <a:endParaRPr lang="en-IN" sz="2000" dirty="0"/>
          </a:p>
        </p:txBody>
      </p:sp>
      <p:sp>
        <p:nvSpPr>
          <p:cNvPr id="4" name="TextBox 3">
            <a:extLst>
              <a:ext uri="{FF2B5EF4-FFF2-40B4-BE49-F238E27FC236}">
                <a16:creationId xmlns:a16="http://schemas.microsoft.com/office/drawing/2014/main" id="{D32C25AB-5432-DC38-2F3C-F4C35348B780}"/>
              </a:ext>
            </a:extLst>
          </p:cNvPr>
          <p:cNvSpPr txBox="1"/>
          <p:nvPr/>
        </p:nvSpPr>
        <p:spPr>
          <a:xfrm>
            <a:off x="330200" y="889338"/>
            <a:ext cx="11861800" cy="738664"/>
          </a:xfrm>
          <a:prstGeom prst="rect">
            <a:avLst/>
          </a:prstGeom>
          <a:noFill/>
        </p:spPr>
        <p:txBody>
          <a:bodyPr wrap="square">
            <a:spAutoFit/>
          </a:bodyPr>
          <a:lstStyle/>
          <a:p>
            <a:r>
              <a:rPr lang="en-US" sz="1400" b="0" i="0" dirty="0">
                <a:effectLst/>
                <a:latin typeface="Arial" panose="020B0604020202020204" pitchFamily="34" charset="0"/>
              </a:rPr>
              <a:t>Once you have downloaded this, extract it from the archive and let's open it in x64_dbg. To do so, you can start x64_dbg and drag and drop the file into the disassembly window or use the File -&gt; Open option to do the same. Alternately, you can let the default x64_dbg program automatically register a shell extension for you so you can open files through the right click menu.</a:t>
            </a:r>
            <a:endParaRPr lang="en-IN" sz="1400" dirty="0"/>
          </a:p>
        </p:txBody>
      </p:sp>
      <p:pic>
        <p:nvPicPr>
          <p:cNvPr id="5122" name="Picture 2">
            <a:extLst>
              <a:ext uri="{FF2B5EF4-FFF2-40B4-BE49-F238E27FC236}">
                <a16:creationId xmlns:a16="http://schemas.microsoft.com/office/drawing/2014/main" id="{681157DE-7F51-7DEB-40F5-59FA1D36AB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200" y="1680442"/>
            <a:ext cx="5466292" cy="37121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26199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5C2B9-E2D9-E14D-9B35-4B08764C7572}"/>
              </a:ext>
            </a:extLst>
          </p:cNvPr>
          <p:cNvSpPr>
            <a:spLocks noGrp="1"/>
          </p:cNvSpPr>
          <p:nvPr>
            <p:ph type="ctrTitle"/>
          </p:nvPr>
        </p:nvSpPr>
        <p:spPr>
          <a:xfrm>
            <a:off x="1524000" y="207963"/>
            <a:ext cx="8475133" cy="791104"/>
          </a:xfrm>
        </p:spPr>
        <p:txBody>
          <a:bodyPr>
            <a:normAutofit/>
          </a:bodyPr>
          <a:lstStyle/>
          <a:p>
            <a:r>
              <a:rPr lang="en-US" sz="2000" b="1" i="0" dirty="0">
                <a:effectLst/>
                <a:latin typeface="Graphik LC Web"/>
              </a:rPr>
              <a:t>Step-by-step Malware Analysis Using x64dbg</a:t>
            </a:r>
            <a:br>
              <a:rPr lang="en-US" sz="2000" b="1" i="0" dirty="0">
                <a:effectLst/>
                <a:latin typeface="Graphik LC Web"/>
              </a:rPr>
            </a:br>
            <a:endParaRPr lang="en-IN" sz="2000" dirty="0"/>
          </a:p>
        </p:txBody>
      </p:sp>
      <p:sp>
        <p:nvSpPr>
          <p:cNvPr id="5" name="TextBox 4">
            <a:extLst>
              <a:ext uri="{FF2B5EF4-FFF2-40B4-BE49-F238E27FC236}">
                <a16:creationId xmlns:a16="http://schemas.microsoft.com/office/drawing/2014/main" id="{6F60DD20-A0D2-1EE4-4F38-BD0F01516A2D}"/>
              </a:ext>
            </a:extLst>
          </p:cNvPr>
          <p:cNvSpPr txBox="1"/>
          <p:nvPr/>
        </p:nvSpPr>
        <p:spPr>
          <a:xfrm>
            <a:off x="313264" y="829733"/>
            <a:ext cx="11412123" cy="369332"/>
          </a:xfrm>
          <a:prstGeom prst="rect">
            <a:avLst/>
          </a:prstGeom>
          <a:noFill/>
        </p:spPr>
        <p:txBody>
          <a:bodyPr wrap="square">
            <a:spAutoFit/>
          </a:bodyPr>
          <a:lstStyle/>
          <a:p>
            <a:r>
              <a:rPr lang="en-US" b="0" i="0" dirty="0">
                <a:effectLst/>
                <a:latin typeface="Arial" panose="020B0604020202020204" pitchFamily="34" charset="0"/>
              </a:rPr>
              <a:t>Once you have opened it and you had previously configured the event settings to Entry Point only,</a:t>
            </a:r>
            <a:endParaRPr lang="en-IN" dirty="0"/>
          </a:p>
        </p:txBody>
      </p:sp>
      <p:sp>
        <p:nvSpPr>
          <p:cNvPr id="7" name="TextBox 6">
            <a:extLst>
              <a:ext uri="{FF2B5EF4-FFF2-40B4-BE49-F238E27FC236}">
                <a16:creationId xmlns:a16="http://schemas.microsoft.com/office/drawing/2014/main" id="{4FF3C5CA-CD7F-4B3D-42CC-8116BCB82BD4}"/>
              </a:ext>
            </a:extLst>
          </p:cNvPr>
          <p:cNvSpPr txBox="1"/>
          <p:nvPr/>
        </p:nvSpPr>
        <p:spPr>
          <a:xfrm>
            <a:off x="2581387" y="1199065"/>
            <a:ext cx="9144000" cy="369332"/>
          </a:xfrm>
          <a:prstGeom prst="rect">
            <a:avLst/>
          </a:prstGeom>
          <a:noFill/>
        </p:spPr>
        <p:txBody>
          <a:bodyPr wrap="square">
            <a:spAutoFit/>
          </a:bodyPr>
          <a:lstStyle/>
          <a:p>
            <a:r>
              <a:rPr lang="en-US" dirty="0"/>
              <a:t>In the debug menu, you can see that x64_dbg has the some shortcut keys. </a:t>
            </a:r>
            <a:endParaRPr lang="en-IN" dirty="0"/>
          </a:p>
        </p:txBody>
      </p:sp>
      <p:sp>
        <p:nvSpPr>
          <p:cNvPr id="9" name="TextBox 8">
            <a:extLst>
              <a:ext uri="{FF2B5EF4-FFF2-40B4-BE49-F238E27FC236}">
                <a16:creationId xmlns:a16="http://schemas.microsoft.com/office/drawing/2014/main" id="{59B25074-C91D-1DDD-3177-66F047E82DC0}"/>
              </a:ext>
            </a:extLst>
          </p:cNvPr>
          <p:cNvSpPr txBox="1"/>
          <p:nvPr/>
        </p:nvSpPr>
        <p:spPr>
          <a:xfrm>
            <a:off x="4123796" y="1873283"/>
            <a:ext cx="4343400" cy="4154984"/>
          </a:xfrm>
          <a:prstGeom prst="rect">
            <a:avLst/>
          </a:prstGeom>
          <a:noFill/>
        </p:spPr>
        <p:txBody>
          <a:bodyPr wrap="square">
            <a:spAutoFit/>
          </a:bodyPr>
          <a:lstStyle/>
          <a:p>
            <a:r>
              <a:rPr lang="en-US" sz="1200" dirty="0"/>
              <a:t>Run(F9): This starts or resumes the process normally.</a:t>
            </a:r>
          </a:p>
          <a:p>
            <a:endParaRPr lang="en-US" sz="1200" dirty="0"/>
          </a:p>
          <a:p>
            <a:r>
              <a:rPr lang="en-US" sz="1200" dirty="0"/>
              <a:t>Run(skip exceptions) (Shift+f9): This will resume the process while passing the current and all following exceptions to the process.</a:t>
            </a:r>
          </a:p>
          <a:p>
            <a:endParaRPr lang="en-US" sz="1200" dirty="0"/>
          </a:p>
          <a:p>
            <a:r>
              <a:rPr lang="en-US" sz="1200" dirty="0"/>
              <a:t>Pause(F12): This suspends the current process.</a:t>
            </a:r>
          </a:p>
          <a:p>
            <a:endParaRPr lang="en-US" sz="1200" dirty="0"/>
          </a:p>
          <a:p>
            <a:r>
              <a:rPr lang="en-US" sz="1200" dirty="0"/>
              <a:t>Restart(Ctrl+F2): This terminates the debugged process and reloads it.</a:t>
            </a:r>
          </a:p>
          <a:p>
            <a:endParaRPr lang="en-US" sz="1200" dirty="0"/>
          </a:p>
          <a:p>
            <a:r>
              <a:rPr lang="en-US" sz="1200" dirty="0"/>
              <a:t>Close(Alt+F4): This terminates and unloads the debugged process.</a:t>
            </a:r>
          </a:p>
          <a:p>
            <a:endParaRPr lang="en-US" sz="1200" dirty="0"/>
          </a:p>
          <a:p>
            <a:r>
              <a:rPr lang="en-US" sz="1200" dirty="0"/>
              <a:t>Step Into(F7): This allows us to enter a routine or execute the next step in a repeat instruction.</a:t>
            </a:r>
          </a:p>
          <a:p>
            <a:endParaRPr lang="en-US" sz="1200" dirty="0"/>
          </a:p>
          <a:p>
            <a:r>
              <a:rPr lang="en-US" sz="1200" dirty="0"/>
              <a:t>Step Into(skip exceptions)(Shift+F7): This allows us to enter a routine or execute the next step in a repeat instruction while passing the current exception to the application.</a:t>
            </a:r>
          </a:p>
          <a:p>
            <a:endParaRPr lang="en-US" sz="1200" dirty="0"/>
          </a:p>
          <a:p>
            <a:r>
              <a:rPr lang="en-US" sz="1200" dirty="0"/>
              <a:t>Step Over(F8): This allows you to execute an entire subroutine or repeat instruction without stepping through it instruction by instruction</a:t>
            </a:r>
            <a:endParaRPr lang="en-IN" sz="1200" dirty="0"/>
          </a:p>
        </p:txBody>
      </p:sp>
      <p:pic>
        <p:nvPicPr>
          <p:cNvPr id="6148" name="Picture 4">
            <a:extLst>
              <a:ext uri="{FF2B5EF4-FFF2-40B4-BE49-F238E27FC236}">
                <a16:creationId xmlns:a16="http://schemas.microsoft.com/office/drawing/2014/main" id="{8E0D96E3-FC27-8CE0-DEE6-AB3EFBC146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9804" y="1937729"/>
            <a:ext cx="3114675" cy="3324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96790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5C2B9-E2D9-E14D-9B35-4B08764C7572}"/>
              </a:ext>
            </a:extLst>
          </p:cNvPr>
          <p:cNvSpPr>
            <a:spLocks noGrp="1"/>
          </p:cNvSpPr>
          <p:nvPr>
            <p:ph type="ctrTitle"/>
          </p:nvPr>
        </p:nvSpPr>
        <p:spPr>
          <a:xfrm>
            <a:off x="1524000" y="207963"/>
            <a:ext cx="8475133" cy="791104"/>
          </a:xfrm>
        </p:spPr>
        <p:txBody>
          <a:bodyPr>
            <a:normAutofit/>
          </a:bodyPr>
          <a:lstStyle/>
          <a:p>
            <a:r>
              <a:rPr lang="en-US" sz="2000" b="1" i="0" dirty="0">
                <a:effectLst/>
                <a:latin typeface="Graphik LC Web"/>
              </a:rPr>
              <a:t>Step-by-step Malware Analysis Using x64dbg</a:t>
            </a:r>
            <a:br>
              <a:rPr lang="en-US" sz="2000" b="1" i="0" dirty="0">
                <a:effectLst/>
                <a:latin typeface="Graphik LC Web"/>
              </a:rPr>
            </a:br>
            <a:endParaRPr lang="en-IN" sz="2000" dirty="0"/>
          </a:p>
        </p:txBody>
      </p:sp>
      <p:sp>
        <p:nvSpPr>
          <p:cNvPr id="5" name="TextBox 4">
            <a:extLst>
              <a:ext uri="{FF2B5EF4-FFF2-40B4-BE49-F238E27FC236}">
                <a16:creationId xmlns:a16="http://schemas.microsoft.com/office/drawing/2014/main" id="{6F60DD20-A0D2-1EE4-4F38-BD0F01516A2D}"/>
              </a:ext>
            </a:extLst>
          </p:cNvPr>
          <p:cNvSpPr txBox="1"/>
          <p:nvPr/>
        </p:nvSpPr>
        <p:spPr>
          <a:xfrm>
            <a:off x="313264" y="829733"/>
            <a:ext cx="11412123" cy="369332"/>
          </a:xfrm>
          <a:prstGeom prst="rect">
            <a:avLst/>
          </a:prstGeom>
          <a:noFill/>
        </p:spPr>
        <p:txBody>
          <a:bodyPr wrap="square">
            <a:spAutoFit/>
          </a:bodyPr>
          <a:lstStyle/>
          <a:p>
            <a:r>
              <a:rPr lang="en-US" b="0" i="0" dirty="0">
                <a:effectLst/>
                <a:latin typeface="Arial" panose="020B0604020202020204" pitchFamily="34" charset="0"/>
              </a:rPr>
              <a:t>Once you have opened it and you had previously configured the event settings to Entry Point only,</a:t>
            </a:r>
            <a:endParaRPr lang="en-IN" dirty="0"/>
          </a:p>
        </p:txBody>
      </p:sp>
      <p:sp>
        <p:nvSpPr>
          <p:cNvPr id="7" name="TextBox 6">
            <a:extLst>
              <a:ext uri="{FF2B5EF4-FFF2-40B4-BE49-F238E27FC236}">
                <a16:creationId xmlns:a16="http://schemas.microsoft.com/office/drawing/2014/main" id="{4FF3C5CA-CD7F-4B3D-42CC-8116BCB82BD4}"/>
              </a:ext>
            </a:extLst>
          </p:cNvPr>
          <p:cNvSpPr txBox="1"/>
          <p:nvPr/>
        </p:nvSpPr>
        <p:spPr>
          <a:xfrm>
            <a:off x="2581387" y="1199065"/>
            <a:ext cx="9144000" cy="369332"/>
          </a:xfrm>
          <a:prstGeom prst="rect">
            <a:avLst/>
          </a:prstGeom>
          <a:noFill/>
        </p:spPr>
        <p:txBody>
          <a:bodyPr wrap="square">
            <a:spAutoFit/>
          </a:bodyPr>
          <a:lstStyle/>
          <a:p>
            <a:r>
              <a:rPr lang="en-US" dirty="0"/>
              <a:t>In the debug menu, you can see that x64_dbg has the some shortcut keys. </a:t>
            </a:r>
            <a:endParaRPr lang="en-IN" dirty="0"/>
          </a:p>
        </p:txBody>
      </p:sp>
      <p:sp>
        <p:nvSpPr>
          <p:cNvPr id="4" name="TextBox 3">
            <a:extLst>
              <a:ext uri="{FF2B5EF4-FFF2-40B4-BE49-F238E27FC236}">
                <a16:creationId xmlns:a16="http://schemas.microsoft.com/office/drawing/2014/main" id="{1A013A62-A9D9-6DF6-DAC4-B1EDF878B381}"/>
              </a:ext>
            </a:extLst>
          </p:cNvPr>
          <p:cNvSpPr txBox="1"/>
          <p:nvPr/>
        </p:nvSpPr>
        <p:spPr>
          <a:xfrm>
            <a:off x="719665" y="1568397"/>
            <a:ext cx="11260667" cy="4339650"/>
          </a:xfrm>
          <a:prstGeom prst="rect">
            <a:avLst/>
          </a:prstGeom>
          <a:noFill/>
        </p:spPr>
        <p:txBody>
          <a:bodyPr wrap="square">
            <a:spAutoFit/>
          </a:bodyPr>
          <a:lstStyle/>
          <a:p>
            <a:br>
              <a:rPr lang="en-US" sz="1200" dirty="0"/>
            </a:br>
            <a:r>
              <a:rPr lang="en-US" sz="1200" b="1" i="0" dirty="0">
                <a:effectLst/>
                <a:latin typeface="Arial" panose="020B0604020202020204" pitchFamily="34" charset="0"/>
              </a:rPr>
              <a:t>Step Over(skip exceptions)(Shift+F8):</a:t>
            </a:r>
            <a:r>
              <a:rPr lang="en-US" sz="1200" b="0" i="0" dirty="0">
                <a:effectLst/>
                <a:latin typeface="Arial" panose="020B0604020202020204" pitchFamily="34" charset="0"/>
              </a:rPr>
              <a:t> This allows you to execute an entire subroutine or repeat instruction without stepping through it instruction by instruction while passing the current exception to the application.</a:t>
            </a:r>
            <a:br>
              <a:rPr lang="en-US" sz="1200" dirty="0"/>
            </a:br>
            <a:br>
              <a:rPr lang="en-US" sz="1200" dirty="0"/>
            </a:br>
            <a:r>
              <a:rPr lang="en-US" sz="1200" b="1" i="0" dirty="0">
                <a:effectLst/>
                <a:latin typeface="Arial" panose="020B0604020202020204" pitchFamily="34" charset="0"/>
              </a:rPr>
              <a:t>Execute Till Return(Ctrl+F9):</a:t>
            </a:r>
            <a:r>
              <a:rPr lang="en-US" sz="1200" b="0" i="0" dirty="0">
                <a:effectLst/>
                <a:latin typeface="Arial" panose="020B0604020202020204" pitchFamily="34" charset="0"/>
              </a:rPr>
              <a:t> This resumes the process until a return instruction is executed.</a:t>
            </a:r>
            <a:br>
              <a:rPr lang="en-US" sz="1200" dirty="0"/>
            </a:br>
            <a:br>
              <a:rPr lang="en-US" sz="1200" dirty="0"/>
            </a:br>
            <a:r>
              <a:rPr lang="en-US" sz="1200" b="1" i="0" dirty="0">
                <a:effectLst/>
                <a:latin typeface="Arial" panose="020B0604020202020204" pitchFamily="34" charset="0"/>
              </a:rPr>
              <a:t>Execute Till Return(skip exceptions)(Ctrl+Shift+F9): </a:t>
            </a:r>
            <a:r>
              <a:rPr lang="en-US" sz="1200" b="0" i="0" dirty="0">
                <a:effectLst/>
                <a:latin typeface="Arial" panose="020B0604020202020204" pitchFamily="34" charset="0"/>
              </a:rPr>
              <a:t>This resumes the process until a return instruction is executed while passing the current exception to the application.</a:t>
            </a:r>
            <a:br>
              <a:rPr lang="en-US" sz="1200" dirty="0"/>
            </a:br>
            <a:br>
              <a:rPr lang="en-US" sz="1200" dirty="0"/>
            </a:br>
            <a:r>
              <a:rPr lang="en-US" sz="1200" b="1" i="0" dirty="0">
                <a:effectLst/>
                <a:latin typeface="Arial" panose="020B0604020202020204" pitchFamily="34" charset="0"/>
              </a:rPr>
              <a:t>Breakpoints:</a:t>
            </a:r>
            <a:br>
              <a:rPr lang="en-US" sz="1200" dirty="0"/>
            </a:br>
            <a:r>
              <a:rPr lang="en-US" sz="1200" b="0" i="0" dirty="0">
                <a:effectLst/>
                <a:latin typeface="Arial" panose="020B0604020202020204" pitchFamily="34" charset="0"/>
              </a:rPr>
              <a:t>When you are debugging, one of the primary features you want to use is called breakpoints. There are 3 main types of breakpoints. We will briefly discuss these here.</a:t>
            </a:r>
            <a:br>
              <a:rPr lang="en-US" sz="1200" dirty="0"/>
            </a:br>
            <a:br>
              <a:rPr lang="en-US" sz="1200" dirty="0"/>
            </a:br>
            <a:r>
              <a:rPr lang="en-US" sz="1200" b="1" i="0" dirty="0">
                <a:effectLst/>
                <a:latin typeface="Arial" panose="020B0604020202020204" pitchFamily="34" charset="0"/>
              </a:rPr>
              <a:t>Execution Breakpoint: </a:t>
            </a:r>
            <a:r>
              <a:rPr lang="en-US" sz="1200" b="0" i="0" dirty="0">
                <a:effectLst/>
                <a:latin typeface="Arial" panose="020B0604020202020204" pitchFamily="34" charset="0"/>
              </a:rPr>
              <a:t>This is the most common and most used type of breakpoint. When you toggle a breakpoint on a specific address, this tell the debugger to stop when that address is reached in the execution. To use this, simply press the F2 when over an address you would like to break on.</a:t>
            </a:r>
            <a:br>
              <a:rPr lang="en-US" sz="1200" dirty="0"/>
            </a:br>
            <a:br>
              <a:rPr lang="en-US" sz="1200" dirty="0"/>
            </a:br>
            <a:r>
              <a:rPr lang="en-US" sz="1200" b="1" i="0" dirty="0">
                <a:effectLst/>
                <a:latin typeface="Arial" panose="020B0604020202020204" pitchFamily="34" charset="0"/>
              </a:rPr>
              <a:t>Memory Breakpoint: </a:t>
            </a:r>
            <a:r>
              <a:rPr lang="en-US" sz="1200" b="0" i="0" dirty="0">
                <a:effectLst/>
                <a:latin typeface="Arial" panose="020B0604020202020204" pitchFamily="34" charset="0"/>
              </a:rPr>
              <a:t>A memory breakpoint is used to pause an application when a specific area of memory is either accessed, written to, or executed. This is handy when you want to determine when or if a specific area of memory is used by the program. This is available in the right click menu of the memory map window and dump pane.</a:t>
            </a:r>
            <a:br>
              <a:rPr lang="en-US" sz="1200" dirty="0"/>
            </a:br>
            <a:br>
              <a:rPr lang="en-US" sz="1200" dirty="0"/>
            </a:br>
            <a:r>
              <a:rPr lang="en-US" sz="1200" b="1" i="0" dirty="0">
                <a:effectLst/>
                <a:latin typeface="Arial" panose="020B0604020202020204" pitchFamily="34" charset="0"/>
              </a:rPr>
              <a:t>Hardware Breakpoint:</a:t>
            </a:r>
            <a:r>
              <a:rPr lang="en-US" sz="1200" b="0" i="0" dirty="0">
                <a:effectLst/>
                <a:latin typeface="Arial" panose="020B0604020202020204" pitchFamily="34" charset="0"/>
              </a:rPr>
              <a:t> A hardware breakpoint is used to pause an application when a particular address is either written to, read, or executed. This is specifically useful to determine when a particular variable is set. This can be used for byte, word, and </a:t>
            </a:r>
            <a:r>
              <a:rPr lang="en-US" sz="1200" b="0" i="0" dirty="0" err="1">
                <a:effectLst/>
                <a:latin typeface="Arial" panose="020B0604020202020204" pitchFamily="34" charset="0"/>
              </a:rPr>
              <a:t>dword</a:t>
            </a:r>
            <a:r>
              <a:rPr lang="en-US" sz="1200" b="0" i="0" dirty="0">
                <a:effectLst/>
                <a:latin typeface="Arial" panose="020B0604020202020204" pitchFamily="34" charset="0"/>
              </a:rPr>
              <a:t> reads and writes. This feature is available in the right click menu of the hex dump.</a:t>
            </a:r>
            <a:endParaRPr lang="en-IN" sz="1200" dirty="0"/>
          </a:p>
        </p:txBody>
      </p:sp>
    </p:spTree>
    <p:extLst>
      <p:ext uri="{BB962C8B-B14F-4D97-AF65-F5344CB8AC3E}">
        <p14:creationId xmlns:p14="http://schemas.microsoft.com/office/powerpoint/2010/main" val="39072364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5C2B9-E2D9-E14D-9B35-4B08764C7572}"/>
              </a:ext>
            </a:extLst>
          </p:cNvPr>
          <p:cNvSpPr>
            <a:spLocks noGrp="1"/>
          </p:cNvSpPr>
          <p:nvPr>
            <p:ph type="ctrTitle"/>
          </p:nvPr>
        </p:nvSpPr>
        <p:spPr>
          <a:xfrm>
            <a:off x="1524000" y="207963"/>
            <a:ext cx="8475133" cy="791104"/>
          </a:xfrm>
        </p:spPr>
        <p:txBody>
          <a:bodyPr>
            <a:normAutofit/>
          </a:bodyPr>
          <a:lstStyle/>
          <a:p>
            <a:r>
              <a:rPr lang="en-US" sz="2000" b="1" i="0" dirty="0">
                <a:effectLst/>
                <a:latin typeface="Graphik LC Web"/>
              </a:rPr>
              <a:t>Step-by-step Malware Analysis Using x64dbg</a:t>
            </a:r>
            <a:br>
              <a:rPr lang="en-US" sz="2000" b="1" i="0" dirty="0">
                <a:effectLst/>
                <a:latin typeface="Graphik LC Web"/>
              </a:rPr>
            </a:br>
            <a:endParaRPr lang="en-IN" sz="2000" dirty="0"/>
          </a:p>
        </p:txBody>
      </p:sp>
      <p:sp>
        <p:nvSpPr>
          <p:cNvPr id="5" name="TextBox 4">
            <a:extLst>
              <a:ext uri="{FF2B5EF4-FFF2-40B4-BE49-F238E27FC236}">
                <a16:creationId xmlns:a16="http://schemas.microsoft.com/office/drawing/2014/main" id="{6F60DD20-A0D2-1EE4-4F38-BD0F01516A2D}"/>
              </a:ext>
            </a:extLst>
          </p:cNvPr>
          <p:cNvSpPr txBox="1"/>
          <p:nvPr/>
        </p:nvSpPr>
        <p:spPr>
          <a:xfrm>
            <a:off x="313264" y="829733"/>
            <a:ext cx="11412123" cy="369332"/>
          </a:xfrm>
          <a:prstGeom prst="rect">
            <a:avLst/>
          </a:prstGeom>
          <a:noFill/>
        </p:spPr>
        <p:txBody>
          <a:bodyPr wrap="square">
            <a:spAutoFit/>
          </a:bodyPr>
          <a:lstStyle/>
          <a:p>
            <a:r>
              <a:rPr lang="en-US" b="0" i="0" dirty="0">
                <a:effectLst/>
                <a:latin typeface="Arial" panose="020B0604020202020204" pitchFamily="34" charset="0"/>
              </a:rPr>
              <a:t>Once you have opened it and you had previously configured the event settings to Entry Point only,</a:t>
            </a:r>
            <a:endParaRPr lang="en-IN" dirty="0"/>
          </a:p>
        </p:txBody>
      </p:sp>
      <p:sp>
        <p:nvSpPr>
          <p:cNvPr id="7" name="TextBox 6">
            <a:extLst>
              <a:ext uri="{FF2B5EF4-FFF2-40B4-BE49-F238E27FC236}">
                <a16:creationId xmlns:a16="http://schemas.microsoft.com/office/drawing/2014/main" id="{4FF3C5CA-CD7F-4B3D-42CC-8116BCB82BD4}"/>
              </a:ext>
            </a:extLst>
          </p:cNvPr>
          <p:cNvSpPr txBox="1"/>
          <p:nvPr/>
        </p:nvSpPr>
        <p:spPr>
          <a:xfrm>
            <a:off x="2581387" y="1199065"/>
            <a:ext cx="9144000" cy="369332"/>
          </a:xfrm>
          <a:prstGeom prst="rect">
            <a:avLst/>
          </a:prstGeom>
          <a:noFill/>
        </p:spPr>
        <p:txBody>
          <a:bodyPr wrap="square">
            <a:spAutoFit/>
          </a:bodyPr>
          <a:lstStyle/>
          <a:p>
            <a:r>
              <a:rPr lang="en-US" dirty="0"/>
              <a:t>In the debug menu, you can see that x64_dbg has the some shortcut keys. </a:t>
            </a:r>
            <a:endParaRPr lang="en-IN" dirty="0"/>
          </a:p>
        </p:txBody>
      </p:sp>
      <p:sp>
        <p:nvSpPr>
          <p:cNvPr id="6" name="TextBox 5">
            <a:extLst>
              <a:ext uri="{FF2B5EF4-FFF2-40B4-BE49-F238E27FC236}">
                <a16:creationId xmlns:a16="http://schemas.microsoft.com/office/drawing/2014/main" id="{F2EFBA5D-7A56-5BFD-5B6E-E7755746F4B2}"/>
              </a:ext>
            </a:extLst>
          </p:cNvPr>
          <p:cNvSpPr txBox="1"/>
          <p:nvPr/>
        </p:nvSpPr>
        <p:spPr>
          <a:xfrm>
            <a:off x="190500" y="1768395"/>
            <a:ext cx="11810999" cy="1169551"/>
          </a:xfrm>
          <a:prstGeom prst="rect">
            <a:avLst/>
          </a:prstGeom>
          <a:noFill/>
        </p:spPr>
        <p:txBody>
          <a:bodyPr wrap="square">
            <a:spAutoFit/>
          </a:bodyPr>
          <a:lstStyle/>
          <a:p>
            <a:r>
              <a:rPr lang="en-US" sz="1400" b="1" i="0" dirty="0">
                <a:effectLst/>
                <a:latin typeface="Arial" panose="020B0604020202020204" pitchFamily="34" charset="0"/>
              </a:rPr>
              <a:t>Let's Begin:</a:t>
            </a:r>
            <a:br>
              <a:rPr lang="en-US" sz="1400" dirty="0"/>
            </a:br>
            <a:r>
              <a:rPr lang="en-US" sz="1400" b="0" i="0" dirty="0">
                <a:effectLst/>
                <a:latin typeface="Arial" panose="020B0604020202020204" pitchFamily="34" charset="0"/>
              </a:rPr>
              <a:t>Now that we have a general understanding of the features in x64_dbg, we can begin debugging our first target. We already have our target loaded into x64_dbg, so let's Run it by pressing F9. As you can see, the application begins to run with the debugger attached to it. At this point, we can pause the application in x64_dbg and take a look at a few of its features. To pause the application, press F12.</a:t>
            </a:r>
            <a:br>
              <a:rPr lang="en-US" sz="1400" dirty="0"/>
            </a:br>
            <a:endParaRPr lang="en-IN" sz="1400" dirty="0"/>
          </a:p>
        </p:txBody>
      </p:sp>
      <p:pic>
        <p:nvPicPr>
          <p:cNvPr id="7170" name="Picture 2">
            <a:extLst>
              <a:ext uri="{FF2B5EF4-FFF2-40B4-BE49-F238E27FC236}">
                <a16:creationId xmlns:a16="http://schemas.microsoft.com/office/drawing/2014/main" id="{DE3BD8AA-A217-0924-08AC-C94F2ADA35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635" y="2741641"/>
            <a:ext cx="4753504" cy="36506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04678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5C2B9-E2D9-E14D-9B35-4B08764C7572}"/>
              </a:ext>
            </a:extLst>
          </p:cNvPr>
          <p:cNvSpPr>
            <a:spLocks noGrp="1"/>
          </p:cNvSpPr>
          <p:nvPr>
            <p:ph type="ctrTitle"/>
          </p:nvPr>
        </p:nvSpPr>
        <p:spPr>
          <a:xfrm>
            <a:off x="1524000" y="207963"/>
            <a:ext cx="8475133" cy="791104"/>
          </a:xfrm>
        </p:spPr>
        <p:txBody>
          <a:bodyPr>
            <a:normAutofit/>
          </a:bodyPr>
          <a:lstStyle/>
          <a:p>
            <a:r>
              <a:rPr lang="en-US" sz="2000" b="1" i="0" dirty="0">
                <a:effectLst/>
                <a:latin typeface="Graphik LC Web"/>
              </a:rPr>
              <a:t>Step-by-step Malware Analysis Using x64dbg</a:t>
            </a:r>
            <a:br>
              <a:rPr lang="en-US" sz="2000" b="1" i="0" dirty="0">
                <a:effectLst/>
                <a:latin typeface="Graphik LC Web"/>
              </a:rPr>
            </a:br>
            <a:endParaRPr lang="en-IN" sz="2000" dirty="0"/>
          </a:p>
        </p:txBody>
      </p:sp>
      <p:sp>
        <p:nvSpPr>
          <p:cNvPr id="5" name="TextBox 4">
            <a:extLst>
              <a:ext uri="{FF2B5EF4-FFF2-40B4-BE49-F238E27FC236}">
                <a16:creationId xmlns:a16="http://schemas.microsoft.com/office/drawing/2014/main" id="{6F60DD20-A0D2-1EE4-4F38-BD0F01516A2D}"/>
              </a:ext>
            </a:extLst>
          </p:cNvPr>
          <p:cNvSpPr txBox="1"/>
          <p:nvPr/>
        </p:nvSpPr>
        <p:spPr>
          <a:xfrm>
            <a:off x="313264" y="829733"/>
            <a:ext cx="11412123" cy="369332"/>
          </a:xfrm>
          <a:prstGeom prst="rect">
            <a:avLst/>
          </a:prstGeom>
          <a:noFill/>
        </p:spPr>
        <p:txBody>
          <a:bodyPr wrap="square">
            <a:spAutoFit/>
          </a:bodyPr>
          <a:lstStyle/>
          <a:p>
            <a:r>
              <a:rPr lang="en-US" b="0" i="0" dirty="0">
                <a:effectLst/>
                <a:latin typeface="Arial" panose="020B0604020202020204" pitchFamily="34" charset="0"/>
              </a:rPr>
              <a:t>Once you have opened it and you had previously configured the event settings to Entry Point only,</a:t>
            </a:r>
            <a:endParaRPr lang="en-IN" dirty="0"/>
          </a:p>
        </p:txBody>
      </p:sp>
      <p:sp>
        <p:nvSpPr>
          <p:cNvPr id="7" name="TextBox 6">
            <a:extLst>
              <a:ext uri="{FF2B5EF4-FFF2-40B4-BE49-F238E27FC236}">
                <a16:creationId xmlns:a16="http://schemas.microsoft.com/office/drawing/2014/main" id="{4FF3C5CA-CD7F-4B3D-42CC-8116BCB82BD4}"/>
              </a:ext>
            </a:extLst>
          </p:cNvPr>
          <p:cNvSpPr txBox="1"/>
          <p:nvPr/>
        </p:nvSpPr>
        <p:spPr>
          <a:xfrm>
            <a:off x="2581387" y="1199065"/>
            <a:ext cx="9144000" cy="369332"/>
          </a:xfrm>
          <a:prstGeom prst="rect">
            <a:avLst/>
          </a:prstGeom>
          <a:noFill/>
        </p:spPr>
        <p:txBody>
          <a:bodyPr wrap="square">
            <a:spAutoFit/>
          </a:bodyPr>
          <a:lstStyle/>
          <a:p>
            <a:r>
              <a:rPr lang="en-US" dirty="0"/>
              <a:t>In the debug menu, you can see that x64_dbg has the some shortcut keys. </a:t>
            </a:r>
            <a:endParaRPr lang="en-IN" dirty="0"/>
          </a:p>
        </p:txBody>
      </p:sp>
      <p:sp>
        <p:nvSpPr>
          <p:cNvPr id="4" name="TextBox 3">
            <a:extLst>
              <a:ext uri="{FF2B5EF4-FFF2-40B4-BE49-F238E27FC236}">
                <a16:creationId xmlns:a16="http://schemas.microsoft.com/office/drawing/2014/main" id="{FD6A5172-AAC0-A0B3-CB17-FDF3EDBCF42D}"/>
              </a:ext>
            </a:extLst>
          </p:cNvPr>
          <p:cNvSpPr txBox="1"/>
          <p:nvPr/>
        </p:nvSpPr>
        <p:spPr>
          <a:xfrm>
            <a:off x="152400" y="1476064"/>
            <a:ext cx="12039600" cy="738664"/>
          </a:xfrm>
          <a:prstGeom prst="rect">
            <a:avLst/>
          </a:prstGeom>
          <a:noFill/>
        </p:spPr>
        <p:txBody>
          <a:bodyPr wrap="square">
            <a:spAutoFit/>
          </a:bodyPr>
          <a:lstStyle/>
          <a:p>
            <a:br>
              <a:rPr lang="en-US" sz="1400" dirty="0"/>
            </a:br>
            <a:r>
              <a:rPr lang="en-US" sz="1400" b="0" i="0" dirty="0">
                <a:effectLst/>
                <a:latin typeface="Arial" panose="020B0604020202020204" pitchFamily="34" charset="0"/>
              </a:rPr>
              <a:t>When we pause, we arrive inside of a break-in thread created by x64_dbg. In order to get back to the main thread, we simply click the threads tab and double click on the one labeled main.</a:t>
            </a:r>
            <a:endParaRPr lang="en-IN" sz="1400" dirty="0"/>
          </a:p>
        </p:txBody>
      </p:sp>
      <p:pic>
        <p:nvPicPr>
          <p:cNvPr id="8194" name="Picture 2">
            <a:extLst>
              <a:ext uri="{FF2B5EF4-FFF2-40B4-BE49-F238E27FC236}">
                <a16:creationId xmlns:a16="http://schemas.microsoft.com/office/drawing/2014/main" id="{CD11C6F8-CD0A-1A0B-A331-C9B356110C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5933" y="2214728"/>
            <a:ext cx="10532533" cy="141530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ECCFFD0C-8054-E171-7165-82015DE3D378}"/>
              </a:ext>
            </a:extLst>
          </p:cNvPr>
          <p:cNvSpPr txBox="1"/>
          <p:nvPr/>
        </p:nvSpPr>
        <p:spPr>
          <a:xfrm>
            <a:off x="338666" y="3841172"/>
            <a:ext cx="11853334" cy="738664"/>
          </a:xfrm>
          <a:prstGeom prst="rect">
            <a:avLst/>
          </a:prstGeom>
          <a:noFill/>
        </p:spPr>
        <p:txBody>
          <a:bodyPr wrap="square">
            <a:spAutoFit/>
          </a:bodyPr>
          <a:lstStyle/>
          <a:p>
            <a:r>
              <a:rPr lang="en-US" sz="1400" b="0" i="0" dirty="0">
                <a:effectLst/>
                <a:latin typeface="Arial" panose="020B0604020202020204" pitchFamily="34" charset="0"/>
              </a:rPr>
              <a:t>Once we arrive in the Main Thread, we can start stepping through the routines and analyzing the call stack. The Call Stack window gives you an extensive list of the functions and procedures(routines) which brought you to your current location. You can use this window to analyze these routines and learn about your application's execution routine. Just double click the one you would like to follow in the disassembler.</a:t>
            </a:r>
            <a:endParaRPr lang="en-IN" sz="1400" dirty="0"/>
          </a:p>
        </p:txBody>
      </p:sp>
      <p:pic>
        <p:nvPicPr>
          <p:cNvPr id="8196" name="Picture 4">
            <a:extLst>
              <a:ext uri="{FF2B5EF4-FFF2-40B4-BE49-F238E27FC236}">
                <a16:creationId xmlns:a16="http://schemas.microsoft.com/office/drawing/2014/main" id="{2194FDE8-7DE6-A82C-E7F3-F076D43B96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4471" y="4613543"/>
            <a:ext cx="7858125" cy="1285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94664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5C2B9-E2D9-E14D-9B35-4B08764C7572}"/>
              </a:ext>
            </a:extLst>
          </p:cNvPr>
          <p:cNvSpPr>
            <a:spLocks noGrp="1"/>
          </p:cNvSpPr>
          <p:nvPr>
            <p:ph type="ctrTitle"/>
          </p:nvPr>
        </p:nvSpPr>
        <p:spPr>
          <a:xfrm>
            <a:off x="1524000" y="207963"/>
            <a:ext cx="8475133" cy="791104"/>
          </a:xfrm>
        </p:spPr>
        <p:txBody>
          <a:bodyPr>
            <a:normAutofit/>
          </a:bodyPr>
          <a:lstStyle/>
          <a:p>
            <a:r>
              <a:rPr lang="en-US" sz="2000" b="1" i="0" dirty="0">
                <a:effectLst/>
                <a:latin typeface="Graphik LC Web"/>
              </a:rPr>
              <a:t>Step-by-step Malware Analysis Using x64dbg</a:t>
            </a:r>
            <a:br>
              <a:rPr lang="en-US" sz="2000" b="1" i="0" dirty="0">
                <a:effectLst/>
                <a:latin typeface="Graphik LC Web"/>
              </a:rPr>
            </a:br>
            <a:endParaRPr lang="en-IN" sz="2000" dirty="0"/>
          </a:p>
        </p:txBody>
      </p:sp>
      <p:sp>
        <p:nvSpPr>
          <p:cNvPr id="5" name="TextBox 4">
            <a:extLst>
              <a:ext uri="{FF2B5EF4-FFF2-40B4-BE49-F238E27FC236}">
                <a16:creationId xmlns:a16="http://schemas.microsoft.com/office/drawing/2014/main" id="{6F60DD20-A0D2-1EE4-4F38-BD0F01516A2D}"/>
              </a:ext>
            </a:extLst>
          </p:cNvPr>
          <p:cNvSpPr txBox="1"/>
          <p:nvPr/>
        </p:nvSpPr>
        <p:spPr>
          <a:xfrm>
            <a:off x="313264" y="829733"/>
            <a:ext cx="11412123" cy="369332"/>
          </a:xfrm>
          <a:prstGeom prst="rect">
            <a:avLst/>
          </a:prstGeom>
          <a:noFill/>
        </p:spPr>
        <p:txBody>
          <a:bodyPr wrap="square">
            <a:spAutoFit/>
          </a:bodyPr>
          <a:lstStyle/>
          <a:p>
            <a:r>
              <a:rPr lang="en-US" b="0" i="0" dirty="0">
                <a:effectLst/>
                <a:latin typeface="Arial" panose="020B0604020202020204" pitchFamily="34" charset="0"/>
              </a:rPr>
              <a:t>Once you have opened it and you had previously configured the event settings to Entry Point only,</a:t>
            </a:r>
            <a:endParaRPr lang="en-IN" dirty="0"/>
          </a:p>
        </p:txBody>
      </p:sp>
      <p:sp>
        <p:nvSpPr>
          <p:cNvPr id="7" name="TextBox 6">
            <a:extLst>
              <a:ext uri="{FF2B5EF4-FFF2-40B4-BE49-F238E27FC236}">
                <a16:creationId xmlns:a16="http://schemas.microsoft.com/office/drawing/2014/main" id="{4FF3C5CA-CD7F-4B3D-42CC-8116BCB82BD4}"/>
              </a:ext>
            </a:extLst>
          </p:cNvPr>
          <p:cNvSpPr txBox="1"/>
          <p:nvPr/>
        </p:nvSpPr>
        <p:spPr>
          <a:xfrm>
            <a:off x="2581387" y="1199065"/>
            <a:ext cx="9144000" cy="369332"/>
          </a:xfrm>
          <a:prstGeom prst="rect">
            <a:avLst/>
          </a:prstGeom>
          <a:noFill/>
        </p:spPr>
        <p:txBody>
          <a:bodyPr wrap="square">
            <a:spAutoFit/>
          </a:bodyPr>
          <a:lstStyle/>
          <a:p>
            <a:r>
              <a:rPr lang="en-US" dirty="0"/>
              <a:t>In the debug menu, you can see that x64_dbg has the some shortcut keys. </a:t>
            </a:r>
            <a:endParaRPr lang="en-IN" dirty="0"/>
          </a:p>
        </p:txBody>
      </p:sp>
      <p:sp>
        <p:nvSpPr>
          <p:cNvPr id="6" name="TextBox 5">
            <a:extLst>
              <a:ext uri="{FF2B5EF4-FFF2-40B4-BE49-F238E27FC236}">
                <a16:creationId xmlns:a16="http://schemas.microsoft.com/office/drawing/2014/main" id="{FB2DF23A-A1C2-F8E5-E0CA-614266EA6B68}"/>
              </a:ext>
            </a:extLst>
          </p:cNvPr>
          <p:cNvSpPr txBox="1"/>
          <p:nvPr/>
        </p:nvSpPr>
        <p:spPr>
          <a:xfrm>
            <a:off x="770465" y="1820835"/>
            <a:ext cx="11743267" cy="523220"/>
          </a:xfrm>
          <a:prstGeom prst="rect">
            <a:avLst/>
          </a:prstGeom>
          <a:noFill/>
        </p:spPr>
        <p:txBody>
          <a:bodyPr wrap="square">
            <a:spAutoFit/>
          </a:bodyPr>
          <a:lstStyle/>
          <a:p>
            <a:r>
              <a:rPr lang="en-US" sz="1400" b="0" i="0" dirty="0">
                <a:effectLst/>
                <a:latin typeface="Arial" panose="020B0604020202020204" pitchFamily="34" charset="0"/>
              </a:rPr>
              <a:t>The Memory Map pane will show us all of the sections or regions of RAM  allocated to and by our application and its dependencies.</a:t>
            </a:r>
            <a:br>
              <a:rPr lang="en-US" sz="1400" dirty="0"/>
            </a:br>
            <a:endParaRPr lang="en-IN" sz="1400" dirty="0"/>
          </a:p>
        </p:txBody>
      </p:sp>
      <p:pic>
        <p:nvPicPr>
          <p:cNvPr id="9220" name="Picture 4">
            <a:extLst>
              <a:ext uri="{FF2B5EF4-FFF2-40B4-BE49-F238E27FC236}">
                <a16:creationId xmlns:a16="http://schemas.microsoft.com/office/drawing/2014/main" id="{33B115BC-7DB3-9BA4-9EB5-46AA11BEF9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0465" y="2190167"/>
            <a:ext cx="5836180" cy="41811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9001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5C2B9-E2D9-E14D-9B35-4B08764C7572}"/>
              </a:ext>
            </a:extLst>
          </p:cNvPr>
          <p:cNvSpPr>
            <a:spLocks noGrp="1"/>
          </p:cNvSpPr>
          <p:nvPr>
            <p:ph type="ctrTitle"/>
          </p:nvPr>
        </p:nvSpPr>
        <p:spPr>
          <a:xfrm>
            <a:off x="1524000" y="207963"/>
            <a:ext cx="8475133" cy="791104"/>
          </a:xfrm>
        </p:spPr>
        <p:txBody>
          <a:bodyPr>
            <a:normAutofit/>
          </a:bodyPr>
          <a:lstStyle/>
          <a:p>
            <a:r>
              <a:rPr lang="en-US" sz="2000" b="1" i="0" dirty="0">
                <a:effectLst/>
                <a:latin typeface="Graphik LC Web"/>
              </a:rPr>
              <a:t>Step-by-step Malware Analysis Using x64dbg</a:t>
            </a:r>
            <a:br>
              <a:rPr lang="en-US" sz="2000" b="1" i="0" dirty="0">
                <a:effectLst/>
                <a:latin typeface="Graphik LC Web"/>
              </a:rPr>
            </a:br>
            <a:endParaRPr lang="en-IN" sz="2000" dirty="0"/>
          </a:p>
        </p:txBody>
      </p:sp>
      <p:sp>
        <p:nvSpPr>
          <p:cNvPr id="5" name="TextBox 4">
            <a:extLst>
              <a:ext uri="{FF2B5EF4-FFF2-40B4-BE49-F238E27FC236}">
                <a16:creationId xmlns:a16="http://schemas.microsoft.com/office/drawing/2014/main" id="{6F60DD20-A0D2-1EE4-4F38-BD0F01516A2D}"/>
              </a:ext>
            </a:extLst>
          </p:cNvPr>
          <p:cNvSpPr txBox="1"/>
          <p:nvPr/>
        </p:nvSpPr>
        <p:spPr>
          <a:xfrm>
            <a:off x="313264" y="829733"/>
            <a:ext cx="11412123" cy="369332"/>
          </a:xfrm>
          <a:prstGeom prst="rect">
            <a:avLst/>
          </a:prstGeom>
          <a:noFill/>
        </p:spPr>
        <p:txBody>
          <a:bodyPr wrap="square">
            <a:spAutoFit/>
          </a:bodyPr>
          <a:lstStyle/>
          <a:p>
            <a:r>
              <a:rPr lang="en-US" b="0" i="0" dirty="0">
                <a:effectLst/>
                <a:latin typeface="Arial" panose="020B0604020202020204" pitchFamily="34" charset="0"/>
              </a:rPr>
              <a:t>Once you have opened it and you had previously configured the event settings to Entry Point only,</a:t>
            </a:r>
            <a:endParaRPr lang="en-IN" dirty="0"/>
          </a:p>
        </p:txBody>
      </p:sp>
      <p:sp>
        <p:nvSpPr>
          <p:cNvPr id="7" name="TextBox 6">
            <a:extLst>
              <a:ext uri="{FF2B5EF4-FFF2-40B4-BE49-F238E27FC236}">
                <a16:creationId xmlns:a16="http://schemas.microsoft.com/office/drawing/2014/main" id="{4FF3C5CA-CD7F-4B3D-42CC-8116BCB82BD4}"/>
              </a:ext>
            </a:extLst>
          </p:cNvPr>
          <p:cNvSpPr txBox="1"/>
          <p:nvPr/>
        </p:nvSpPr>
        <p:spPr>
          <a:xfrm>
            <a:off x="2581387" y="1199065"/>
            <a:ext cx="9144000" cy="369332"/>
          </a:xfrm>
          <a:prstGeom prst="rect">
            <a:avLst/>
          </a:prstGeom>
          <a:noFill/>
        </p:spPr>
        <p:txBody>
          <a:bodyPr wrap="square">
            <a:spAutoFit/>
          </a:bodyPr>
          <a:lstStyle/>
          <a:p>
            <a:r>
              <a:rPr lang="en-US" dirty="0"/>
              <a:t>In the debug menu, you can see that x64_dbg has the some shortcut keys. </a:t>
            </a:r>
            <a:endParaRPr lang="en-IN" dirty="0"/>
          </a:p>
        </p:txBody>
      </p:sp>
      <p:sp>
        <p:nvSpPr>
          <p:cNvPr id="4" name="TextBox 3">
            <a:extLst>
              <a:ext uri="{FF2B5EF4-FFF2-40B4-BE49-F238E27FC236}">
                <a16:creationId xmlns:a16="http://schemas.microsoft.com/office/drawing/2014/main" id="{98BB9A0E-18B0-F487-4290-DB82315FA689}"/>
              </a:ext>
            </a:extLst>
          </p:cNvPr>
          <p:cNvSpPr txBox="1"/>
          <p:nvPr/>
        </p:nvSpPr>
        <p:spPr>
          <a:xfrm>
            <a:off x="313264" y="1768395"/>
            <a:ext cx="11827933" cy="523220"/>
          </a:xfrm>
          <a:prstGeom prst="rect">
            <a:avLst/>
          </a:prstGeom>
          <a:noFill/>
        </p:spPr>
        <p:txBody>
          <a:bodyPr wrap="square">
            <a:spAutoFit/>
          </a:bodyPr>
          <a:lstStyle/>
          <a:p>
            <a:r>
              <a:rPr lang="en-US" sz="1400" b="0" i="0" dirty="0">
                <a:effectLst/>
                <a:latin typeface="Arial" panose="020B0604020202020204" pitchFamily="34" charset="0"/>
              </a:rPr>
              <a:t>Let's go ahead and resume the process by pressing </a:t>
            </a:r>
            <a:r>
              <a:rPr lang="en-US" sz="1400" b="1" i="0" dirty="0">
                <a:effectLst/>
                <a:latin typeface="Arial" panose="020B0604020202020204" pitchFamily="34" charset="0"/>
              </a:rPr>
              <a:t>F9</a:t>
            </a:r>
            <a:r>
              <a:rPr lang="en-US" sz="1400" b="0" i="0" dirty="0">
                <a:effectLst/>
                <a:latin typeface="Arial" panose="020B0604020202020204" pitchFamily="34" charset="0"/>
              </a:rPr>
              <a:t>. Let's attempt to enter the fake password '123456' into the application and see what message is returned when we click Check.</a:t>
            </a:r>
            <a:endParaRPr lang="en-IN" sz="1400" dirty="0"/>
          </a:p>
        </p:txBody>
      </p:sp>
      <p:pic>
        <p:nvPicPr>
          <p:cNvPr id="10244" name="Picture 4">
            <a:extLst>
              <a:ext uri="{FF2B5EF4-FFF2-40B4-BE49-F238E27FC236}">
                <a16:creationId xmlns:a16="http://schemas.microsoft.com/office/drawing/2014/main" id="{B1187EC9-047E-488F-F1F4-ACF5361846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264" y="2354766"/>
            <a:ext cx="3486150" cy="224790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0DC6787F-3F06-2250-B4EB-5A9B6461CE36}"/>
              </a:ext>
            </a:extLst>
          </p:cNvPr>
          <p:cNvSpPr txBox="1"/>
          <p:nvPr/>
        </p:nvSpPr>
        <p:spPr>
          <a:xfrm>
            <a:off x="313263" y="4704828"/>
            <a:ext cx="11412123" cy="954107"/>
          </a:xfrm>
          <a:prstGeom prst="rect">
            <a:avLst/>
          </a:prstGeom>
          <a:noFill/>
        </p:spPr>
        <p:txBody>
          <a:bodyPr wrap="square">
            <a:spAutoFit/>
          </a:bodyPr>
          <a:lstStyle/>
          <a:p>
            <a:r>
              <a:rPr lang="en-US" sz="1400" b="0" i="0" dirty="0">
                <a:effectLst/>
                <a:latin typeface="Arial" panose="020B0604020202020204" pitchFamily="34" charset="0"/>
              </a:rPr>
              <a:t>As we see, this is not a valid password because of the message '</a:t>
            </a:r>
            <a:r>
              <a:rPr lang="en-US" sz="1400" b="1" i="0" dirty="0">
                <a:effectLst/>
                <a:latin typeface="Arial" panose="020B0604020202020204" pitchFamily="34" charset="0"/>
              </a:rPr>
              <a:t>Authentication Failed. Invalid Password!</a:t>
            </a:r>
            <a:r>
              <a:rPr lang="en-US" sz="1400" b="0" i="0" dirty="0">
                <a:effectLst/>
                <a:latin typeface="Arial" panose="020B0604020202020204" pitchFamily="34" charset="0"/>
              </a:rPr>
              <a:t>' Now that we know the message, let's use the built-in find referenced strings function in x64_dbg to see if we can locate this string inside of the </a:t>
            </a:r>
            <a:r>
              <a:rPr lang="en-US" sz="1400" b="0" i="0" dirty="0" err="1">
                <a:effectLst/>
                <a:latin typeface="Arial" panose="020B0604020202020204" pitchFamily="34" charset="0"/>
              </a:rPr>
              <a:t>application.To</a:t>
            </a:r>
            <a:r>
              <a:rPr lang="en-US" sz="1400" b="0" i="0" dirty="0">
                <a:effectLst/>
                <a:latin typeface="Arial" panose="020B0604020202020204" pitchFamily="34" charset="0"/>
              </a:rPr>
              <a:t> do this, we first need to verify that we are currently inside of the application module. Once this is verified, we can either click on the 'A' button on the top pane of x64_dbg, or left click in the disassembly pane and go to Search for -&gt; String references.</a:t>
            </a:r>
            <a:endParaRPr lang="en-IN" sz="1400" dirty="0"/>
          </a:p>
        </p:txBody>
      </p:sp>
    </p:spTree>
    <p:extLst>
      <p:ext uri="{BB962C8B-B14F-4D97-AF65-F5344CB8AC3E}">
        <p14:creationId xmlns:p14="http://schemas.microsoft.com/office/powerpoint/2010/main" val="32285157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5C2B9-E2D9-E14D-9B35-4B08764C7572}"/>
              </a:ext>
            </a:extLst>
          </p:cNvPr>
          <p:cNvSpPr>
            <a:spLocks noGrp="1"/>
          </p:cNvSpPr>
          <p:nvPr>
            <p:ph type="ctrTitle"/>
          </p:nvPr>
        </p:nvSpPr>
        <p:spPr>
          <a:xfrm>
            <a:off x="1524000" y="207963"/>
            <a:ext cx="8475133" cy="791104"/>
          </a:xfrm>
        </p:spPr>
        <p:txBody>
          <a:bodyPr>
            <a:normAutofit/>
          </a:bodyPr>
          <a:lstStyle/>
          <a:p>
            <a:r>
              <a:rPr lang="en-US" sz="2000" b="1" i="0" dirty="0">
                <a:effectLst/>
                <a:latin typeface="Graphik LC Web"/>
              </a:rPr>
              <a:t>Step-by-step Malware Analysis Using x64dbg</a:t>
            </a:r>
            <a:br>
              <a:rPr lang="en-US" sz="2000" b="1" i="0" dirty="0">
                <a:effectLst/>
                <a:latin typeface="Graphik LC Web"/>
              </a:rPr>
            </a:br>
            <a:endParaRPr lang="en-IN" sz="2000" dirty="0"/>
          </a:p>
        </p:txBody>
      </p:sp>
      <p:sp>
        <p:nvSpPr>
          <p:cNvPr id="5" name="TextBox 4">
            <a:extLst>
              <a:ext uri="{FF2B5EF4-FFF2-40B4-BE49-F238E27FC236}">
                <a16:creationId xmlns:a16="http://schemas.microsoft.com/office/drawing/2014/main" id="{6F60DD20-A0D2-1EE4-4F38-BD0F01516A2D}"/>
              </a:ext>
            </a:extLst>
          </p:cNvPr>
          <p:cNvSpPr txBox="1"/>
          <p:nvPr/>
        </p:nvSpPr>
        <p:spPr>
          <a:xfrm>
            <a:off x="313264" y="829733"/>
            <a:ext cx="11412123" cy="369332"/>
          </a:xfrm>
          <a:prstGeom prst="rect">
            <a:avLst/>
          </a:prstGeom>
          <a:noFill/>
        </p:spPr>
        <p:txBody>
          <a:bodyPr wrap="square">
            <a:spAutoFit/>
          </a:bodyPr>
          <a:lstStyle/>
          <a:p>
            <a:r>
              <a:rPr lang="en-US" b="0" i="0" dirty="0">
                <a:effectLst/>
                <a:latin typeface="Arial" panose="020B0604020202020204" pitchFamily="34" charset="0"/>
              </a:rPr>
              <a:t>Once you have opened it and you had previously configured the event settings to Entry Point only,</a:t>
            </a:r>
            <a:endParaRPr lang="en-IN" dirty="0"/>
          </a:p>
        </p:txBody>
      </p:sp>
      <p:sp>
        <p:nvSpPr>
          <p:cNvPr id="7" name="TextBox 6">
            <a:extLst>
              <a:ext uri="{FF2B5EF4-FFF2-40B4-BE49-F238E27FC236}">
                <a16:creationId xmlns:a16="http://schemas.microsoft.com/office/drawing/2014/main" id="{4FF3C5CA-CD7F-4B3D-42CC-8116BCB82BD4}"/>
              </a:ext>
            </a:extLst>
          </p:cNvPr>
          <p:cNvSpPr txBox="1"/>
          <p:nvPr/>
        </p:nvSpPr>
        <p:spPr>
          <a:xfrm>
            <a:off x="2581387" y="1199065"/>
            <a:ext cx="9144000" cy="369332"/>
          </a:xfrm>
          <a:prstGeom prst="rect">
            <a:avLst/>
          </a:prstGeom>
          <a:noFill/>
        </p:spPr>
        <p:txBody>
          <a:bodyPr wrap="square">
            <a:spAutoFit/>
          </a:bodyPr>
          <a:lstStyle/>
          <a:p>
            <a:r>
              <a:rPr lang="en-US" dirty="0"/>
              <a:t>In the debug menu, you can see that x64_dbg has the some shortcut keys. </a:t>
            </a:r>
            <a:endParaRPr lang="en-IN" dirty="0"/>
          </a:p>
        </p:txBody>
      </p:sp>
      <p:pic>
        <p:nvPicPr>
          <p:cNvPr id="11266" name="Picture 2">
            <a:extLst>
              <a:ext uri="{FF2B5EF4-FFF2-40B4-BE49-F238E27FC236}">
                <a16:creationId xmlns:a16="http://schemas.microsoft.com/office/drawing/2014/main" id="{590650FD-3D72-46BF-9AB7-BAA8A6A484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254" y="1758790"/>
            <a:ext cx="3283480" cy="364643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A2CE476-AF06-BA12-9621-303B54B13C16}"/>
              </a:ext>
            </a:extLst>
          </p:cNvPr>
          <p:cNvSpPr txBox="1"/>
          <p:nvPr/>
        </p:nvSpPr>
        <p:spPr>
          <a:xfrm>
            <a:off x="3496734" y="1937729"/>
            <a:ext cx="8915400" cy="954107"/>
          </a:xfrm>
          <a:prstGeom prst="rect">
            <a:avLst/>
          </a:prstGeom>
          <a:noFill/>
        </p:spPr>
        <p:txBody>
          <a:bodyPr wrap="square">
            <a:spAutoFit/>
          </a:bodyPr>
          <a:lstStyle/>
          <a:p>
            <a:r>
              <a:rPr lang="en-US" sz="1400" b="0" i="0" dirty="0">
                <a:effectLst/>
                <a:latin typeface="Arial" panose="020B0604020202020204" pitchFamily="34" charset="0"/>
              </a:rPr>
              <a:t>This will build up a listing of all of the strings referenced in the application's code. Once you build up a list, we can use the search pane to filter the list and find the location of this string. However, since this is small application, a simple scroll to the bottom will reveal the location of where our string is referenced, as well as some other interesting strings.</a:t>
            </a:r>
            <a:endParaRPr lang="en-IN" sz="1400" dirty="0"/>
          </a:p>
        </p:txBody>
      </p:sp>
      <p:pic>
        <p:nvPicPr>
          <p:cNvPr id="11268" name="Picture 4">
            <a:extLst>
              <a:ext uri="{FF2B5EF4-FFF2-40B4-BE49-F238E27FC236}">
                <a16:creationId xmlns:a16="http://schemas.microsoft.com/office/drawing/2014/main" id="{BBFE9FF8-BC62-9C9C-FE8C-1CC3C2B4F9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2990806"/>
            <a:ext cx="8280402" cy="3488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11517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5C2B9-E2D9-E14D-9B35-4B08764C7572}"/>
              </a:ext>
            </a:extLst>
          </p:cNvPr>
          <p:cNvSpPr>
            <a:spLocks noGrp="1"/>
          </p:cNvSpPr>
          <p:nvPr>
            <p:ph type="ctrTitle"/>
          </p:nvPr>
        </p:nvSpPr>
        <p:spPr>
          <a:xfrm>
            <a:off x="1524000" y="207963"/>
            <a:ext cx="8475133" cy="791104"/>
          </a:xfrm>
        </p:spPr>
        <p:txBody>
          <a:bodyPr>
            <a:normAutofit/>
          </a:bodyPr>
          <a:lstStyle/>
          <a:p>
            <a:r>
              <a:rPr lang="en-US" sz="2000" b="1" i="0" dirty="0">
                <a:effectLst/>
                <a:latin typeface="Graphik LC Web"/>
              </a:rPr>
              <a:t>Step-by-step Malware Analysis Using x64dbg</a:t>
            </a:r>
            <a:br>
              <a:rPr lang="en-US" sz="2000" b="1" i="0" dirty="0">
                <a:effectLst/>
                <a:latin typeface="Graphik LC Web"/>
              </a:rPr>
            </a:br>
            <a:endParaRPr lang="en-IN" sz="2000" dirty="0"/>
          </a:p>
        </p:txBody>
      </p:sp>
      <p:sp>
        <p:nvSpPr>
          <p:cNvPr id="5" name="TextBox 4">
            <a:extLst>
              <a:ext uri="{FF2B5EF4-FFF2-40B4-BE49-F238E27FC236}">
                <a16:creationId xmlns:a16="http://schemas.microsoft.com/office/drawing/2014/main" id="{6F60DD20-A0D2-1EE4-4F38-BD0F01516A2D}"/>
              </a:ext>
            </a:extLst>
          </p:cNvPr>
          <p:cNvSpPr txBox="1"/>
          <p:nvPr/>
        </p:nvSpPr>
        <p:spPr>
          <a:xfrm>
            <a:off x="313264" y="829733"/>
            <a:ext cx="11412123" cy="369332"/>
          </a:xfrm>
          <a:prstGeom prst="rect">
            <a:avLst/>
          </a:prstGeom>
          <a:noFill/>
        </p:spPr>
        <p:txBody>
          <a:bodyPr wrap="square">
            <a:spAutoFit/>
          </a:bodyPr>
          <a:lstStyle/>
          <a:p>
            <a:r>
              <a:rPr lang="en-US" b="0" i="0" dirty="0">
                <a:effectLst/>
                <a:latin typeface="Arial" panose="020B0604020202020204" pitchFamily="34" charset="0"/>
              </a:rPr>
              <a:t>Once you have opened it and you had previously configured the event settings to Entry Point only,</a:t>
            </a:r>
            <a:endParaRPr lang="en-IN" dirty="0"/>
          </a:p>
        </p:txBody>
      </p:sp>
      <p:sp>
        <p:nvSpPr>
          <p:cNvPr id="7" name="TextBox 6">
            <a:extLst>
              <a:ext uri="{FF2B5EF4-FFF2-40B4-BE49-F238E27FC236}">
                <a16:creationId xmlns:a16="http://schemas.microsoft.com/office/drawing/2014/main" id="{4FF3C5CA-CD7F-4B3D-42CC-8116BCB82BD4}"/>
              </a:ext>
            </a:extLst>
          </p:cNvPr>
          <p:cNvSpPr txBox="1"/>
          <p:nvPr/>
        </p:nvSpPr>
        <p:spPr>
          <a:xfrm>
            <a:off x="2581387" y="1199065"/>
            <a:ext cx="9144000" cy="369332"/>
          </a:xfrm>
          <a:prstGeom prst="rect">
            <a:avLst/>
          </a:prstGeom>
          <a:noFill/>
        </p:spPr>
        <p:txBody>
          <a:bodyPr wrap="square">
            <a:spAutoFit/>
          </a:bodyPr>
          <a:lstStyle/>
          <a:p>
            <a:r>
              <a:rPr lang="en-US" dirty="0"/>
              <a:t>In the debug menu, you can see that x64_dbg has the some shortcut keys. </a:t>
            </a:r>
            <a:endParaRPr lang="en-IN" dirty="0"/>
          </a:p>
        </p:txBody>
      </p:sp>
      <p:sp>
        <p:nvSpPr>
          <p:cNvPr id="4" name="TextBox 3">
            <a:extLst>
              <a:ext uri="{FF2B5EF4-FFF2-40B4-BE49-F238E27FC236}">
                <a16:creationId xmlns:a16="http://schemas.microsoft.com/office/drawing/2014/main" id="{86B0BED2-AD9D-1CA3-6554-5403431126FE}"/>
              </a:ext>
            </a:extLst>
          </p:cNvPr>
          <p:cNvSpPr txBox="1"/>
          <p:nvPr/>
        </p:nvSpPr>
        <p:spPr>
          <a:xfrm>
            <a:off x="313264" y="1620837"/>
            <a:ext cx="11785600" cy="738664"/>
          </a:xfrm>
          <a:prstGeom prst="rect">
            <a:avLst/>
          </a:prstGeom>
          <a:noFill/>
        </p:spPr>
        <p:txBody>
          <a:bodyPr wrap="square">
            <a:spAutoFit/>
          </a:bodyPr>
          <a:lstStyle/>
          <a:p>
            <a:br>
              <a:rPr lang="en-US" sz="1400" dirty="0"/>
            </a:br>
            <a:r>
              <a:rPr lang="en-US" sz="1400" b="0" i="0" dirty="0">
                <a:effectLst/>
                <a:latin typeface="Arial" panose="020B0604020202020204" pitchFamily="34" charset="0"/>
              </a:rPr>
              <a:t>Double clicking any of these will take you to their location in the disassembly pane. You can also toggle a breakpoint on these references by simply pressing F2. Let's follow the 'Authentication Failed..' string and see where it takes us.</a:t>
            </a:r>
            <a:endParaRPr lang="en-IN" sz="1400" dirty="0"/>
          </a:p>
        </p:txBody>
      </p:sp>
      <p:pic>
        <p:nvPicPr>
          <p:cNvPr id="12290" name="Picture 2">
            <a:extLst>
              <a:ext uri="{FF2B5EF4-FFF2-40B4-BE49-F238E27FC236}">
                <a16:creationId xmlns:a16="http://schemas.microsoft.com/office/drawing/2014/main" id="{23E2B4CC-D366-B541-8A64-8F74103EB9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934" y="2411941"/>
            <a:ext cx="6071130" cy="328519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4B28106-BF34-401C-009C-69DD6DCD9306}"/>
              </a:ext>
            </a:extLst>
          </p:cNvPr>
          <p:cNvSpPr txBox="1"/>
          <p:nvPr/>
        </p:nvSpPr>
        <p:spPr>
          <a:xfrm>
            <a:off x="6451600" y="4224813"/>
            <a:ext cx="5367864" cy="2246769"/>
          </a:xfrm>
          <a:prstGeom prst="rect">
            <a:avLst/>
          </a:prstGeom>
          <a:noFill/>
        </p:spPr>
        <p:txBody>
          <a:bodyPr wrap="square">
            <a:spAutoFit/>
          </a:bodyPr>
          <a:lstStyle/>
          <a:p>
            <a:r>
              <a:rPr lang="en-US" sz="1400" b="0" i="0" dirty="0">
                <a:effectLst/>
                <a:latin typeface="Arial" panose="020B0604020202020204" pitchFamily="34" charset="0"/>
              </a:rPr>
              <a:t>In the picture above, I have set a breakpoint at the beginning of the function which checks our password. I have also added some comments beside of a few of the calls so that we can understand this a little better. If we were to step through this using f8, which steps over the calls, we can see the process. Let's toggle the breakpoint at the beginning of this function using F2, enter the value of </a:t>
            </a:r>
            <a:r>
              <a:rPr lang="en-US" sz="1400" b="1" i="0" dirty="0">
                <a:effectLst/>
                <a:latin typeface="Arial" panose="020B0604020202020204" pitchFamily="34" charset="0"/>
              </a:rPr>
              <a:t>123456</a:t>
            </a:r>
            <a:r>
              <a:rPr lang="en-US" sz="1400" b="0" i="0" dirty="0">
                <a:effectLst/>
                <a:latin typeface="Arial" panose="020B0604020202020204" pitchFamily="34" charset="0"/>
              </a:rPr>
              <a:t> into the password box and click Check. We will immediately break on our breakpoint. As we step, you will notice that we will get the password we entered in the text field and then hash it with the built in algorithm.</a:t>
            </a:r>
            <a:endParaRPr lang="en-IN" sz="1400" dirty="0"/>
          </a:p>
        </p:txBody>
      </p:sp>
    </p:spTree>
    <p:extLst>
      <p:ext uri="{BB962C8B-B14F-4D97-AF65-F5344CB8AC3E}">
        <p14:creationId xmlns:p14="http://schemas.microsoft.com/office/powerpoint/2010/main" val="5907352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5C2B9-E2D9-E14D-9B35-4B08764C7572}"/>
              </a:ext>
            </a:extLst>
          </p:cNvPr>
          <p:cNvSpPr>
            <a:spLocks noGrp="1"/>
          </p:cNvSpPr>
          <p:nvPr>
            <p:ph type="ctrTitle"/>
          </p:nvPr>
        </p:nvSpPr>
        <p:spPr>
          <a:xfrm>
            <a:off x="1524000" y="207963"/>
            <a:ext cx="8475133" cy="791104"/>
          </a:xfrm>
        </p:spPr>
        <p:txBody>
          <a:bodyPr>
            <a:normAutofit/>
          </a:bodyPr>
          <a:lstStyle/>
          <a:p>
            <a:r>
              <a:rPr lang="en-US" sz="2000" b="1" i="0" dirty="0">
                <a:effectLst/>
                <a:latin typeface="Graphik LC Web"/>
              </a:rPr>
              <a:t>Step-by-step Malware Analysis Using x64dbg</a:t>
            </a:r>
            <a:br>
              <a:rPr lang="en-US" sz="2000" b="1" i="0" dirty="0">
                <a:effectLst/>
                <a:latin typeface="Graphik LC Web"/>
              </a:rPr>
            </a:br>
            <a:endParaRPr lang="en-IN" sz="2000" dirty="0"/>
          </a:p>
        </p:txBody>
      </p:sp>
      <p:sp>
        <p:nvSpPr>
          <p:cNvPr id="5" name="TextBox 4">
            <a:extLst>
              <a:ext uri="{FF2B5EF4-FFF2-40B4-BE49-F238E27FC236}">
                <a16:creationId xmlns:a16="http://schemas.microsoft.com/office/drawing/2014/main" id="{6F60DD20-A0D2-1EE4-4F38-BD0F01516A2D}"/>
              </a:ext>
            </a:extLst>
          </p:cNvPr>
          <p:cNvSpPr txBox="1"/>
          <p:nvPr/>
        </p:nvSpPr>
        <p:spPr>
          <a:xfrm>
            <a:off x="313264" y="829733"/>
            <a:ext cx="11412123" cy="369332"/>
          </a:xfrm>
          <a:prstGeom prst="rect">
            <a:avLst/>
          </a:prstGeom>
          <a:noFill/>
        </p:spPr>
        <p:txBody>
          <a:bodyPr wrap="square">
            <a:spAutoFit/>
          </a:bodyPr>
          <a:lstStyle/>
          <a:p>
            <a:r>
              <a:rPr lang="en-US" b="0" i="0" dirty="0">
                <a:effectLst/>
                <a:latin typeface="Arial" panose="020B0604020202020204" pitchFamily="34" charset="0"/>
              </a:rPr>
              <a:t>Once you have opened it and you had previously configured the event settings to Entry Point only,</a:t>
            </a:r>
            <a:endParaRPr lang="en-IN" dirty="0"/>
          </a:p>
        </p:txBody>
      </p:sp>
      <p:sp>
        <p:nvSpPr>
          <p:cNvPr id="7" name="TextBox 6">
            <a:extLst>
              <a:ext uri="{FF2B5EF4-FFF2-40B4-BE49-F238E27FC236}">
                <a16:creationId xmlns:a16="http://schemas.microsoft.com/office/drawing/2014/main" id="{4FF3C5CA-CD7F-4B3D-42CC-8116BCB82BD4}"/>
              </a:ext>
            </a:extLst>
          </p:cNvPr>
          <p:cNvSpPr txBox="1"/>
          <p:nvPr/>
        </p:nvSpPr>
        <p:spPr>
          <a:xfrm>
            <a:off x="2581387" y="1199065"/>
            <a:ext cx="9144000" cy="369332"/>
          </a:xfrm>
          <a:prstGeom prst="rect">
            <a:avLst/>
          </a:prstGeom>
          <a:noFill/>
        </p:spPr>
        <p:txBody>
          <a:bodyPr wrap="square">
            <a:spAutoFit/>
          </a:bodyPr>
          <a:lstStyle/>
          <a:p>
            <a:r>
              <a:rPr lang="en-US" dirty="0"/>
              <a:t>In the debug menu, you can see that x64_dbg has the some shortcut keys. </a:t>
            </a:r>
            <a:endParaRPr lang="en-IN" dirty="0"/>
          </a:p>
        </p:txBody>
      </p:sp>
      <p:pic>
        <p:nvPicPr>
          <p:cNvPr id="13314" name="Picture 2">
            <a:extLst>
              <a:ext uri="{FF2B5EF4-FFF2-40B4-BE49-F238E27FC236}">
                <a16:creationId xmlns:a16="http://schemas.microsoft.com/office/drawing/2014/main" id="{FD82E4AC-0F0E-5CC0-1469-549A0914AD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732" y="1693160"/>
            <a:ext cx="6189135" cy="363448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312FD73-0760-13E3-390F-2E1538EA5767}"/>
              </a:ext>
            </a:extLst>
          </p:cNvPr>
          <p:cNvSpPr txBox="1"/>
          <p:nvPr/>
        </p:nvSpPr>
        <p:spPr>
          <a:xfrm>
            <a:off x="6467588" y="1620837"/>
            <a:ext cx="5257799" cy="2031325"/>
          </a:xfrm>
          <a:prstGeom prst="rect">
            <a:avLst/>
          </a:prstGeom>
          <a:noFill/>
        </p:spPr>
        <p:txBody>
          <a:bodyPr wrap="square">
            <a:spAutoFit/>
          </a:bodyPr>
          <a:lstStyle/>
          <a:p>
            <a:br>
              <a:rPr lang="en-US" sz="1400" dirty="0"/>
            </a:br>
            <a:r>
              <a:rPr lang="en-US" sz="1400" b="0" i="0" dirty="0">
                <a:effectLst/>
                <a:latin typeface="Arial" panose="020B0604020202020204" pitchFamily="34" charset="0"/>
              </a:rPr>
              <a:t>As we can see, our password is being run through a digest or hashing algorithm and being compared to a precalculated value which is stored in the program as a string. To determine which hash algorithm type this program is using, we can use my software </a:t>
            </a:r>
            <a:r>
              <a:rPr lang="en-US" sz="1400" b="0" i="0" u="none" strike="noStrike" dirty="0">
                <a:effectLst/>
                <a:latin typeface="Arial" panose="020B0604020202020204" pitchFamily="34" charset="0"/>
                <a:hlinkClick r:id="rId3">
                  <a:extLst>
                    <a:ext uri="{A12FA001-AC4F-418D-AE19-62706E023703}">
                      <ahyp:hlinkClr xmlns:ahyp="http://schemas.microsoft.com/office/drawing/2018/hyperlinkcolor" val="tx"/>
                    </a:ext>
                  </a:extLst>
                </a:hlinkClick>
              </a:rPr>
              <a:t>hashing utility</a:t>
            </a:r>
            <a:r>
              <a:rPr lang="en-US" sz="1400" b="0" i="0" dirty="0">
                <a:effectLst/>
                <a:latin typeface="Arial" panose="020B0604020202020204" pitchFamily="34" charset="0"/>
              </a:rPr>
              <a:t> to compare the results for the string '123456'. In the debug sample, the hash returned for '123456' is 'e10adc3949ba59abbe56e057f20f883e'. Let's see which algorithm produces the same.</a:t>
            </a:r>
            <a:endParaRPr lang="en-IN" sz="1400" dirty="0"/>
          </a:p>
        </p:txBody>
      </p:sp>
    </p:spTree>
    <p:extLst>
      <p:ext uri="{BB962C8B-B14F-4D97-AF65-F5344CB8AC3E}">
        <p14:creationId xmlns:p14="http://schemas.microsoft.com/office/powerpoint/2010/main" val="24583743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5C2B9-E2D9-E14D-9B35-4B08764C7572}"/>
              </a:ext>
            </a:extLst>
          </p:cNvPr>
          <p:cNvSpPr>
            <a:spLocks noGrp="1"/>
          </p:cNvSpPr>
          <p:nvPr>
            <p:ph type="ctrTitle"/>
          </p:nvPr>
        </p:nvSpPr>
        <p:spPr>
          <a:xfrm>
            <a:off x="1524000" y="207963"/>
            <a:ext cx="8475133" cy="791104"/>
          </a:xfrm>
        </p:spPr>
        <p:txBody>
          <a:bodyPr>
            <a:normAutofit/>
          </a:bodyPr>
          <a:lstStyle/>
          <a:p>
            <a:r>
              <a:rPr lang="en-US" sz="2000" b="1" i="0" dirty="0">
                <a:effectLst/>
                <a:latin typeface="Graphik LC Web"/>
              </a:rPr>
              <a:t>Step-by-step Malware Analysis Using x64dbg</a:t>
            </a:r>
            <a:br>
              <a:rPr lang="en-US" sz="2000" b="1" i="0" dirty="0">
                <a:effectLst/>
                <a:latin typeface="Graphik LC Web"/>
              </a:rPr>
            </a:br>
            <a:endParaRPr lang="en-IN" sz="2000" dirty="0"/>
          </a:p>
        </p:txBody>
      </p:sp>
      <p:sp>
        <p:nvSpPr>
          <p:cNvPr id="5" name="TextBox 4">
            <a:extLst>
              <a:ext uri="{FF2B5EF4-FFF2-40B4-BE49-F238E27FC236}">
                <a16:creationId xmlns:a16="http://schemas.microsoft.com/office/drawing/2014/main" id="{6F60DD20-A0D2-1EE4-4F38-BD0F01516A2D}"/>
              </a:ext>
            </a:extLst>
          </p:cNvPr>
          <p:cNvSpPr txBox="1"/>
          <p:nvPr/>
        </p:nvSpPr>
        <p:spPr>
          <a:xfrm>
            <a:off x="313264" y="829733"/>
            <a:ext cx="11412123" cy="369332"/>
          </a:xfrm>
          <a:prstGeom prst="rect">
            <a:avLst/>
          </a:prstGeom>
          <a:noFill/>
        </p:spPr>
        <p:txBody>
          <a:bodyPr wrap="square">
            <a:spAutoFit/>
          </a:bodyPr>
          <a:lstStyle/>
          <a:p>
            <a:r>
              <a:rPr lang="en-US" b="0" i="0" dirty="0">
                <a:effectLst/>
                <a:latin typeface="Arial" panose="020B0604020202020204" pitchFamily="34" charset="0"/>
              </a:rPr>
              <a:t>Once you have opened it and you had previously configured the event settings to Entry Point only,</a:t>
            </a:r>
            <a:endParaRPr lang="en-IN" dirty="0"/>
          </a:p>
        </p:txBody>
      </p:sp>
      <p:sp>
        <p:nvSpPr>
          <p:cNvPr id="7" name="TextBox 6">
            <a:extLst>
              <a:ext uri="{FF2B5EF4-FFF2-40B4-BE49-F238E27FC236}">
                <a16:creationId xmlns:a16="http://schemas.microsoft.com/office/drawing/2014/main" id="{4FF3C5CA-CD7F-4B3D-42CC-8116BCB82BD4}"/>
              </a:ext>
            </a:extLst>
          </p:cNvPr>
          <p:cNvSpPr txBox="1"/>
          <p:nvPr/>
        </p:nvSpPr>
        <p:spPr>
          <a:xfrm>
            <a:off x="2581387" y="1199065"/>
            <a:ext cx="9144000" cy="369332"/>
          </a:xfrm>
          <a:prstGeom prst="rect">
            <a:avLst/>
          </a:prstGeom>
          <a:noFill/>
        </p:spPr>
        <p:txBody>
          <a:bodyPr wrap="square">
            <a:spAutoFit/>
          </a:bodyPr>
          <a:lstStyle/>
          <a:p>
            <a:r>
              <a:rPr lang="en-US" dirty="0"/>
              <a:t>In the debug menu, you can see that x64_dbg has the some shortcut keys. </a:t>
            </a:r>
            <a:endParaRPr lang="en-IN" dirty="0"/>
          </a:p>
        </p:txBody>
      </p:sp>
      <p:pic>
        <p:nvPicPr>
          <p:cNvPr id="3" name="Picture 4">
            <a:extLst>
              <a:ext uri="{FF2B5EF4-FFF2-40B4-BE49-F238E27FC236}">
                <a16:creationId xmlns:a16="http://schemas.microsoft.com/office/drawing/2014/main" id="{CB439B81-5411-9F2F-6C9F-B9B2EF485B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264" y="1698002"/>
            <a:ext cx="3629025" cy="240982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DD301C6-0AA3-4BE7-077A-132D726CCD64}"/>
              </a:ext>
            </a:extLst>
          </p:cNvPr>
          <p:cNvSpPr txBox="1"/>
          <p:nvPr/>
        </p:nvSpPr>
        <p:spPr>
          <a:xfrm>
            <a:off x="220133" y="4237432"/>
            <a:ext cx="8830736" cy="1600438"/>
          </a:xfrm>
          <a:prstGeom prst="rect">
            <a:avLst/>
          </a:prstGeom>
          <a:noFill/>
        </p:spPr>
        <p:txBody>
          <a:bodyPr wrap="square">
            <a:spAutoFit/>
          </a:bodyPr>
          <a:lstStyle/>
          <a:p>
            <a:r>
              <a:rPr lang="en-US" sz="1400" b="0" i="0" dirty="0">
                <a:effectLst/>
                <a:latin typeface="Arial" panose="020B0604020202020204" pitchFamily="34" charset="0"/>
              </a:rPr>
              <a:t>It appears that our hash algorithm is MD5. Since the hash is compared to a hardcoded value, it may take a long time to </a:t>
            </a:r>
            <a:r>
              <a:rPr lang="en-US" sz="1400" b="0" i="0" dirty="0" err="1">
                <a:effectLst/>
                <a:latin typeface="Arial" panose="020B0604020202020204" pitchFamily="34" charset="0"/>
              </a:rPr>
              <a:t>bruteforce</a:t>
            </a:r>
            <a:r>
              <a:rPr lang="en-US" sz="1400" b="0" i="0" dirty="0">
                <a:effectLst/>
                <a:latin typeface="Arial" panose="020B0604020202020204" pitchFamily="34" charset="0"/>
              </a:rPr>
              <a:t> or recover the original password. Using x64_dbg, we have the ability to patch or modify the instructions so that it can accept any password as valid. In the code above, our hashes are compared. If they are equal to each other, the program tells us the password is valid. If not, we are told it is invalid. Using the built in assembler, we can change the location of where the comparison jump lands. That means if we change it to the next instruction, it will always show that the password is valid regardless of what we enter. To use the assembler, we simply press the space bar when we are over top of the instruction we want to change.</a:t>
            </a:r>
            <a:endParaRPr lang="en-IN" sz="1400" dirty="0"/>
          </a:p>
        </p:txBody>
      </p:sp>
    </p:spTree>
    <p:extLst>
      <p:ext uri="{BB962C8B-B14F-4D97-AF65-F5344CB8AC3E}">
        <p14:creationId xmlns:p14="http://schemas.microsoft.com/office/powerpoint/2010/main" val="20535046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5C2B9-E2D9-E14D-9B35-4B08764C7572}"/>
              </a:ext>
            </a:extLst>
          </p:cNvPr>
          <p:cNvSpPr>
            <a:spLocks noGrp="1"/>
          </p:cNvSpPr>
          <p:nvPr>
            <p:ph type="ctrTitle"/>
          </p:nvPr>
        </p:nvSpPr>
        <p:spPr>
          <a:xfrm>
            <a:off x="1524000" y="207963"/>
            <a:ext cx="8475133" cy="791104"/>
          </a:xfrm>
        </p:spPr>
        <p:txBody>
          <a:bodyPr>
            <a:normAutofit/>
          </a:bodyPr>
          <a:lstStyle/>
          <a:p>
            <a:r>
              <a:rPr lang="en-US" sz="2000" b="1" i="0" dirty="0">
                <a:effectLst/>
                <a:latin typeface="Graphik LC Web"/>
              </a:rPr>
              <a:t>Step-by-step Malware Analysis Using x64dbg</a:t>
            </a:r>
            <a:br>
              <a:rPr lang="en-US" sz="2000" b="1" i="0" dirty="0">
                <a:effectLst/>
                <a:latin typeface="Graphik LC Web"/>
              </a:rPr>
            </a:br>
            <a:endParaRPr lang="en-IN" sz="2000" dirty="0"/>
          </a:p>
        </p:txBody>
      </p:sp>
      <p:sp>
        <p:nvSpPr>
          <p:cNvPr id="5" name="TextBox 4">
            <a:extLst>
              <a:ext uri="{FF2B5EF4-FFF2-40B4-BE49-F238E27FC236}">
                <a16:creationId xmlns:a16="http://schemas.microsoft.com/office/drawing/2014/main" id="{6F60DD20-A0D2-1EE4-4F38-BD0F01516A2D}"/>
              </a:ext>
            </a:extLst>
          </p:cNvPr>
          <p:cNvSpPr txBox="1"/>
          <p:nvPr/>
        </p:nvSpPr>
        <p:spPr>
          <a:xfrm>
            <a:off x="313264" y="829733"/>
            <a:ext cx="11412123" cy="369332"/>
          </a:xfrm>
          <a:prstGeom prst="rect">
            <a:avLst/>
          </a:prstGeom>
          <a:noFill/>
        </p:spPr>
        <p:txBody>
          <a:bodyPr wrap="square">
            <a:spAutoFit/>
          </a:bodyPr>
          <a:lstStyle/>
          <a:p>
            <a:r>
              <a:rPr lang="en-US" b="0" i="0" dirty="0">
                <a:effectLst/>
                <a:latin typeface="Arial" panose="020B0604020202020204" pitchFamily="34" charset="0"/>
              </a:rPr>
              <a:t>Once you have opened it and you had previously configured the event settings to Entry Point only,</a:t>
            </a:r>
            <a:endParaRPr lang="en-IN" dirty="0"/>
          </a:p>
        </p:txBody>
      </p:sp>
      <p:sp>
        <p:nvSpPr>
          <p:cNvPr id="7" name="TextBox 6">
            <a:extLst>
              <a:ext uri="{FF2B5EF4-FFF2-40B4-BE49-F238E27FC236}">
                <a16:creationId xmlns:a16="http://schemas.microsoft.com/office/drawing/2014/main" id="{4FF3C5CA-CD7F-4B3D-42CC-8116BCB82BD4}"/>
              </a:ext>
            </a:extLst>
          </p:cNvPr>
          <p:cNvSpPr txBox="1"/>
          <p:nvPr/>
        </p:nvSpPr>
        <p:spPr>
          <a:xfrm>
            <a:off x="2581387" y="1199065"/>
            <a:ext cx="9144000" cy="369332"/>
          </a:xfrm>
          <a:prstGeom prst="rect">
            <a:avLst/>
          </a:prstGeom>
          <a:noFill/>
        </p:spPr>
        <p:txBody>
          <a:bodyPr wrap="square">
            <a:spAutoFit/>
          </a:bodyPr>
          <a:lstStyle/>
          <a:p>
            <a:r>
              <a:rPr lang="en-US" dirty="0"/>
              <a:t>In the debug menu, you can see that x64_dbg has the some shortcut keys. </a:t>
            </a:r>
            <a:endParaRPr lang="en-IN" dirty="0"/>
          </a:p>
        </p:txBody>
      </p:sp>
      <p:pic>
        <p:nvPicPr>
          <p:cNvPr id="14338" name="Picture 2">
            <a:extLst>
              <a:ext uri="{FF2B5EF4-FFF2-40B4-BE49-F238E27FC236}">
                <a16:creationId xmlns:a16="http://schemas.microsoft.com/office/drawing/2014/main" id="{2B1EAB6C-9A54-DD50-B51D-D313F39D60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267" y="1768395"/>
            <a:ext cx="5486400" cy="11525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9323553-6CC5-E6EE-96A9-411B9B1B852E}"/>
              </a:ext>
            </a:extLst>
          </p:cNvPr>
          <p:cNvSpPr txBox="1"/>
          <p:nvPr/>
        </p:nvSpPr>
        <p:spPr>
          <a:xfrm>
            <a:off x="5909733" y="1568397"/>
            <a:ext cx="6096000" cy="1384995"/>
          </a:xfrm>
          <a:prstGeom prst="rect">
            <a:avLst/>
          </a:prstGeom>
          <a:noFill/>
        </p:spPr>
        <p:txBody>
          <a:bodyPr wrap="square">
            <a:spAutoFit/>
          </a:bodyPr>
          <a:lstStyle/>
          <a:p>
            <a:br>
              <a:rPr lang="en-US" sz="1400" dirty="0"/>
            </a:br>
            <a:r>
              <a:rPr lang="en-US" sz="1400" b="0" i="0" dirty="0">
                <a:effectLst/>
                <a:latin typeface="Arial" panose="020B0604020202020204" pitchFamily="34" charset="0"/>
              </a:rPr>
              <a:t>Normally, this would jump to VA 59EA68 if the password is invalid. Here, we will simply change the address to 59EA5A so that it will always go to the valid password code regardless of what we enter into the field. After we click OK, the instruction is immediately modified in memory. Now that we have patched, let's test the '123456' password again.</a:t>
            </a:r>
            <a:endParaRPr lang="en-IN" sz="1400" dirty="0"/>
          </a:p>
        </p:txBody>
      </p:sp>
      <p:pic>
        <p:nvPicPr>
          <p:cNvPr id="14340" name="Picture 4">
            <a:extLst>
              <a:ext uri="{FF2B5EF4-FFF2-40B4-BE49-F238E27FC236}">
                <a16:creationId xmlns:a16="http://schemas.microsoft.com/office/drawing/2014/main" id="{2DD7D03D-DC7B-C611-AFC6-8B1E114662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264" y="3292052"/>
            <a:ext cx="4777317" cy="29886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5424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5C2B9-E2D9-E14D-9B35-4B08764C7572}"/>
              </a:ext>
            </a:extLst>
          </p:cNvPr>
          <p:cNvSpPr>
            <a:spLocks noGrp="1"/>
          </p:cNvSpPr>
          <p:nvPr>
            <p:ph type="ctrTitle"/>
          </p:nvPr>
        </p:nvSpPr>
        <p:spPr>
          <a:xfrm>
            <a:off x="1524000" y="207963"/>
            <a:ext cx="8475133" cy="791104"/>
          </a:xfrm>
        </p:spPr>
        <p:txBody>
          <a:bodyPr>
            <a:normAutofit/>
          </a:bodyPr>
          <a:lstStyle/>
          <a:p>
            <a:r>
              <a:rPr lang="en-US" sz="2000" b="1" i="0" dirty="0">
                <a:effectLst/>
                <a:latin typeface="Graphik LC Web"/>
              </a:rPr>
              <a:t>Step-by-step Malware Analysis Using x64dbg</a:t>
            </a:r>
            <a:br>
              <a:rPr lang="en-US" sz="2000" b="1" i="0" dirty="0">
                <a:effectLst/>
                <a:latin typeface="Graphik LC Web"/>
              </a:rPr>
            </a:br>
            <a:endParaRPr lang="en-IN" sz="2000" dirty="0"/>
          </a:p>
        </p:txBody>
      </p:sp>
      <p:sp>
        <p:nvSpPr>
          <p:cNvPr id="5" name="TextBox 4">
            <a:extLst>
              <a:ext uri="{FF2B5EF4-FFF2-40B4-BE49-F238E27FC236}">
                <a16:creationId xmlns:a16="http://schemas.microsoft.com/office/drawing/2014/main" id="{6F60DD20-A0D2-1EE4-4F38-BD0F01516A2D}"/>
              </a:ext>
            </a:extLst>
          </p:cNvPr>
          <p:cNvSpPr txBox="1"/>
          <p:nvPr/>
        </p:nvSpPr>
        <p:spPr>
          <a:xfrm>
            <a:off x="313264" y="829733"/>
            <a:ext cx="11412123" cy="369332"/>
          </a:xfrm>
          <a:prstGeom prst="rect">
            <a:avLst/>
          </a:prstGeom>
          <a:noFill/>
        </p:spPr>
        <p:txBody>
          <a:bodyPr wrap="square">
            <a:spAutoFit/>
          </a:bodyPr>
          <a:lstStyle/>
          <a:p>
            <a:r>
              <a:rPr lang="en-US" b="0" i="0" dirty="0">
                <a:effectLst/>
                <a:latin typeface="Arial" panose="020B0604020202020204" pitchFamily="34" charset="0"/>
              </a:rPr>
              <a:t>Once you have opened it and you had previously configured the event settings to Entry Point only,</a:t>
            </a:r>
            <a:endParaRPr lang="en-IN" dirty="0"/>
          </a:p>
        </p:txBody>
      </p:sp>
      <p:sp>
        <p:nvSpPr>
          <p:cNvPr id="7" name="TextBox 6">
            <a:extLst>
              <a:ext uri="{FF2B5EF4-FFF2-40B4-BE49-F238E27FC236}">
                <a16:creationId xmlns:a16="http://schemas.microsoft.com/office/drawing/2014/main" id="{4FF3C5CA-CD7F-4B3D-42CC-8116BCB82BD4}"/>
              </a:ext>
            </a:extLst>
          </p:cNvPr>
          <p:cNvSpPr txBox="1"/>
          <p:nvPr/>
        </p:nvSpPr>
        <p:spPr>
          <a:xfrm>
            <a:off x="2581387" y="1199065"/>
            <a:ext cx="9144000" cy="369332"/>
          </a:xfrm>
          <a:prstGeom prst="rect">
            <a:avLst/>
          </a:prstGeom>
          <a:noFill/>
        </p:spPr>
        <p:txBody>
          <a:bodyPr wrap="square">
            <a:spAutoFit/>
          </a:bodyPr>
          <a:lstStyle/>
          <a:p>
            <a:r>
              <a:rPr lang="en-US" dirty="0"/>
              <a:t>In the debug menu, you can see that x64_dbg has the some shortcut keys. </a:t>
            </a:r>
            <a:endParaRPr lang="en-IN" dirty="0"/>
          </a:p>
        </p:txBody>
      </p:sp>
      <p:sp>
        <p:nvSpPr>
          <p:cNvPr id="4" name="TextBox 3">
            <a:extLst>
              <a:ext uri="{FF2B5EF4-FFF2-40B4-BE49-F238E27FC236}">
                <a16:creationId xmlns:a16="http://schemas.microsoft.com/office/drawing/2014/main" id="{4B1B9F01-BB95-A195-0320-1BF156C77863}"/>
              </a:ext>
            </a:extLst>
          </p:cNvPr>
          <p:cNvSpPr txBox="1"/>
          <p:nvPr/>
        </p:nvSpPr>
        <p:spPr>
          <a:xfrm>
            <a:off x="414867" y="1620837"/>
            <a:ext cx="11709400" cy="738664"/>
          </a:xfrm>
          <a:prstGeom prst="rect">
            <a:avLst/>
          </a:prstGeom>
          <a:noFill/>
        </p:spPr>
        <p:txBody>
          <a:bodyPr wrap="square">
            <a:spAutoFit/>
          </a:bodyPr>
          <a:lstStyle/>
          <a:p>
            <a:r>
              <a:rPr lang="en-US" sz="1400" b="0" i="0" dirty="0">
                <a:effectLst/>
                <a:latin typeface="Arial" panose="020B0604020202020204" pitchFamily="34" charset="0"/>
              </a:rPr>
              <a:t>As you can see, anything we enter now will be the correct password. However, this patch only affects the memory of the process. Once we restart the program, this patch will be gone. If you want to make this patch permanent, you can save this to disk. This will make a modified copy of our executable that will always accept a fake password. To do so, we open the patch dialog by clicking the button with the bandage on it at the top</a:t>
            </a:r>
            <a:endParaRPr lang="en-IN" sz="1400" dirty="0"/>
          </a:p>
        </p:txBody>
      </p:sp>
      <p:pic>
        <p:nvPicPr>
          <p:cNvPr id="16386" name="Picture 2">
            <a:extLst>
              <a:ext uri="{FF2B5EF4-FFF2-40B4-BE49-F238E27FC236}">
                <a16:creationId xmlns:a16="http://schemas.microsoft.com/office/drawing/2014/main" id="{39436D6C-5B3E-66E2-DB39-7C3BEF8428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4867" y="2468509"/>
            <a:ext cx="3659717" cy="359588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735478CA-0403-911C-45E5-6D01FA5052E4}"/>
              </a:ext>
            </a:extLst>
          </p:cNvPr>
          <p:cNvSpPr txBox="1"/>
          <p:nvPr/>
        </p:nvSpPr>
        <p:spPr>
          <a:xfrm>
            <a:off x="4766735" y="3429000"/>
            <a:ext cx="6316133" cy="954107"/>
          </a:xfrm>
          <a:prstGeom prst="rect">
            <a:avLst/>
          </a:prstGeom>
          <a:noFill/>
        </p:spPr>
        <p:txBody>
          <a:bodyPr wrap="square">
            <a:spAutoFit/>
          </a:bodyPr>
          <a:lstStyle/>
          <a:p>
            <a:br>
              <a:rPr lang="en-US" sz="1400" dirty="0"/>
            </a:br>
            <a:r>
              <a:rPr lang="en-US" sz="1400" b="0" i="0" dirty="0">
                <a:effectLst/>
                <a:latin typeface="Arial" panose="020B0604020202020204" pitchFamily="34" charset="0"/>
              </a:rPr>
              <a:t>Once this is opened, we can check the patch you want to save, and this click Patch file. This will allow you to save the modified program directly on disk under any name that you specify.</a:t>
            </a:r>
            <a:endParaRPr lang="en-IN" sz="1400" dirty="0"/>
          </a:p>
        </p:txBody>
      </p:sp>
    </p:spTree>
    <p:extLst>
      <p:ext uri="{BB962C8B-B14F-4D97-AF65-F5344CB8AC3E}">
        <p14:creationId xmlns:p14="http://schemas.microsoft.com/office/powerpoint/2010/main" val="33855197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5C2B9-E2D9-E14D-9B35-4B08764C7572}"/>
              </a:ext>
            </a:extLst>
          </p:cNvPr>
          <p:cNvSpPr>
            <a:spLocks noGrp="1"/>
          </p:cNvSpPr>
          <p:nvPr>
            <p:ph type="ctrTitle"/>
          </p:nvPr>
        </p:nvSpPr>
        <p:spPr>
          <a:xfrm>
            <a:off x="1524000" y="207963"/>
            <a:ext cx="8475133" cy="791104"/>
          </a:xfrm>
        </p:spPr>
        <p:txBody>
          <a:bodyPr>
            <a:normAutofit/>
          </a:bodyPr>
          <a:lstStyle/>
          <a:p>
            <a:r>
              <a:rPr lang="en-US" sz="2000" b="1" i="0" dirty="0">
                <a:effectLst/>
                <a:latin typeface="Graphik LC Web"/>
              </a:rPr>
              <a:t>Step-by-step Malware Analysis Using x64dbg</a:t>
            </a:r>
            <a:br>
              <a:rPr lang="en-US" sz="2000" b="1" i="0" dirty="0">
                <a:effectLst/>
                <a:latin typeface="Graphik LC Web"/>
              </a:rPr>
            </a:br>
            <a:endParaRPr lang="en-IN" sz="2000" dirty="0"/>
          </a:p>
        </p:txBody>
      </p:sp>
      <p:sp>
        <p:nvSpPr>
          <p:cNvPr id="5" name="TextBox 4">
            <a:extLst>
              <a:ext uri="{FF2B5EF4-FFF2-40B4-BE49-F238E27FC236}">
                <a16:creationId xmlns:a16="http://schemas.microsoft.com/office/drawing/2014/main" id="{6F60DD20-A0D2-1EE4-4F38-BD0F01516A2D}"/>
              </a:ext>
            </a:extLst>
          </p:cNvPr>
          <p:cNvSpPr txBox="1"/>
          <p:nvPr/>
        </p:nvSpPr>
        <p:spPr>
          <a:xfrm>
            <a:off x="313264" y="829733"/>
            <a:ext cx="11412123" cy="369332"/>
          </a:xfrm>
          <a:prstGeom prst="rect">
            <a:avLst/>
          </a:prstGeom>
          <a:noFill/>
        </p:spPr>
        <p:txBody>
          <a:bodyPr wrap="square">
            <a:spAutoFit/>
          </a:bodyPr>
          <a:lstStyle/>
          <a:p>
            <a:r>
              <a:rPr lang="en-US" b="0" i="0" dirty="0">
                <a:effectLst/>
                <a:latin typeface="Arial" panose="020B0604020202020204" pitchFamily="34" charset="0"/>
              </a:rPr>
              <a:t>Once you have opened it and you had previously configured the event settings to Entry Point only,</a:t>
            </a:r>
            <a:endParaRPr lang="en-IN" dirty="0"/>
          </a:p>
        </p:txBody>
      </p:sp>
      <p:sp>
        <p:nvSpPr>
          <p:cNvPr id="7" name="TextBox 6">
            <a:extLst>
              <a:ext uri="{FF2B5EF4-FFF2-40B4-BE49-F238E27FC236}">
                <a16:creationId xmlns:a16="http://schemas.microsoft.com/office/drawing/2014/main" id="{4FF3C5CA-CD7F-4B3D-42CC-8116BCB82BD4}"/>
              </a:ext>
            </a:extLst>
          </p:cNvPr>
          <p:cNvSpPr txBox="1"/>
          <p:nvPr/>
        </p:nvSpPr>
        <p:spPr>
          <a:xfrm>
            <a:off x="2581387" y="1199065"/>
            <a:ext cx="9144000" cy="369332"/>
          </a:xfrm>
          <a:prstGeom prst="rect">
            <a:avLst/>
          </a:prstGeom>
          <a:noFill/>
        </p:spPr>
        <p:txBody>
          <a:bodyPr wrap="square">
            <a:spAutoFit/>
          </a:bodyPr>
          <a:lstStyle/>
          <a:p>
            <a:r>
              <a:rPr lang="en-US" dirty="0"/>
              <a:t>In the debug menu, you can see that x64_dbg has the some shortcut keys. </a:t>
            </a:r>
            <a:endParaRPr lang="en-IN" dirty="0"/>
          </a:p>
        </p:txBody>
      </p:sp>
      <p:sp>
        <p:nvSpPr>
          <p:cNvPr id="6" name="TextBox 5">
            <a:extLst>
              <a:ext uri="{FF2B5EF4-FFF2-40B4-BE49-F238E27FC236}">
                <a16:creationId xmlns:a16="http://schemas.microsoft.com/office/drawing/2014/main" id="{3EF31D40-0C09-34B0-B1D0-C445E3D9DDFB}"/>
              </a:ext>
            </a:extLst>
          </p:cNvPr>
          <p:cNvSpPr txBox="1"/>
          <p:nvPr/>
        </p:nvSpPr>
        <p:spPr>
          <a:xfrm>
            <a:off x="457200" y="1820835"/>
            <a:ext cx="11734800" cy="738664"/>
          </a:xfrm>
          <a:prstGeom prst="rect">
            <a:avLst/>
          </a:prstGeom>
          <a:noFill/>
        </p:spPr>
        <p:txBody>
          <a:bodyPr wrap="square">
            <a:spAutoFit/>
          </a:bodyPr>
          <a:lstStyle/>
          <a:p>
            <a:r>
              <a:rPr lang="en-US" sz="1400" b="0" i="0" dirty="0">
                <a:effectLst/>
                <a:latin typeface="Arial" panose="020B0604020202020204" pitchFamily="34" charset="0"/>
              </a:rPr>
              <a:t>Now, since we know how the algorithm works, let's see if we can break the password. Online there are multiple databases that will check if they have a solution to your hash. In order to copy the built in hash as a string, we need to follow the value in the </a:t>
            </a:r>
            <a:r>
              <a:rPr lang="en-US" sz="1400" b="0" i="0" dirty="0" err="1">
                <a:effectLst/>
                <a:latin typeface="Arial" panose="020B0604020202020204" pitchFamily="34" charset="0"/>
              </a:rPr>
              <a:t>dump.To</a:t>
            </a:r>
            <a:r>
              <a:rPr lang="en-US" sz="1400" b="0" i="0" dirty="0">
                <a:effectLst/>
                <a:latin typeface="Arial" panose="020B0604020202020204" pitchFamily="34" charset="0"/>
              </a:rPr>
              <a:t> do so, right click on the instruction which points to the built in hash and go to Follow in Dump -&gt; Address.</a:t>
            </a:r>
            <a:endParaRPr lang="en-IN" sz="1400" dirty="0"/>
          </a:p>
        </p:txBody>
      </p:sp>
      <p:pic>
        <p:nvPicPr>
          <p:cNvPr id="17412" name="Picture 4">
            <a:extLst>
              <a:ext uri="{FF2B5EF4-FFF2-40B4-BE49-F238E27FC236}">
                <a16:creationId xmlns:a16="http://schemas.microsoft.com/office/drawing/2014/main" id="{C618A582-8194-ADCF-3228-27FE983449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772169"/>
            <a:ext cx="5970058" cy="258468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F755CD8A-4298-39A9-04EB-5BAFCACC9CF4}"/>
              </a:ext>
            </a:extLst>
          </p:cNvPr>
          <p:cNvSpPr txBox="1"/>
          <p:nvPr/>
        </p:nvSpPr>
        <p:spPr>
          <a:xfrm>
            <a:off x="457200" y="5569523"/>
            <a:ext cx="5469467" cy="523220"/>
          </a:xfrm>
          <a:prstGeom prst="rect">
            <a:avLst/>
          </a:prstGeom>
          <a:noFill/>
        </p:spPr>
        <p:txBody>
          <a:bodyPr wrap="square">
            <a:spAutoFit/>
          </a:bodyPr>
          <a:lstStyle/>
          <a:p>
            <a:r>
              <a:rPr lang="en-US" sz="1400" b="0" i="0" dirty="0">
                <a:effectLst/>
                <a:latin typeface="Arial" panose="020B0604020202020204" pitchFamily="34" charset="0"/>
              </a:rPr>
              <a:t> Now that we are in the dump, we need to highlight the hex values of the hash string, right click, and the click edit.</a:t>
            </a:r>
            <a:endParaRPr lang="en-IN" sz="1400" dirty="0"/>
          </a:p>
        </p:txBody>
      </p:sp>
    </p:spTree>
    <p:extLst>
      <p:ext uri="{BB962C8B-B14F-4D97-AF65-F5344CB8AC3E}">
        <p14:creationId xmlns:p14="http://schemas.microsoft.com/office/powerpoint/2010/main" val="2758290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5C2B9-E2D9-E14D-9B35-4B08764C7572}"/>
              </a:ext>
            </a:extLst>
          </p:cNvPr>
          <p:cNvSpPr>
            <a:spLocks noGrp="1"/>
          </p:cNvSpPr>
          <p:nvPr>
            <p:ph type="ctrTitle"/>
          </p:nvPr>
        </p:nvSpPr>
        <p:spPr>
          <a:xfrm>
            <a:off x="1524000" y="207963"/>
            <a:ext cx="8475133" cy="791104"/>
          </a:xfrm>
        </p:spPr>
        <p:txBody>
          <a:bodyPr>
            <a:normAutofit/>
          </a:bodyPr>
          <a:lstStyle/>
          <a:p>
            <a:r>
              <a:rPr lang="en-US" sz="2000" b="1" i="0" dirty="0">
                <a:effectLst/>
                <a:latin typeface="Graphik LC Web"/>
              </a:rPr>
              <a:t>Step-by-step Malware Analysis Using x64dbg</a:t>
            </a:r>
            <a:br>
              <a:rPr lang="en-US" sz="2000" b="1" i="0" dirty="0">
                <a:effectLst/>
                <a:latin typeface="Graphik LC Web"/>
              </a:rPr>
            </a:br>
            <a:endParaRPr lang="en-IN" sz="2000" dirty="0"/>
          </a:p>
        </p:txBody>
      </p:sp>
      <p:sp>
        <p:nvSpPr>
          <p:cNvPr id="5" name="TextBox 4">
            <a:extLst>
              <a:ext uri="{FF2B5EF4-FFF2-40B4-BE49-F238E27FC236}">
                <a16:creationId xmlns:a16="http://schemas.microsoft.com/office/drawing/2014/main" id="{6F60DD20-A0D2-1EE4-4F38-BD0F01516A2D}"/>
              </a:ext>
            </a:extLst>
          </p:cNvPr>
          <p:cNvSpPr txBox="1"/>
          <p:nvPr/>
        </p:nvSpPr>
        <p:spPr>
          <a:xfrm>
            <a:off x="313264" y="829733"/>
            <a:ext cx="11412123" cy="369332"/>
          </a:xfrm>
          <a:prstGeom prst="rect">
            <a:avLst/>
          </a:prstGeom>
          <a:noFill/>
        </p:spPr>
        <p:txBody>
          <a:bodyPr wrap="square">
            <a:spAutoFit/>
          </a:bodyPr>
          <a:lstStyle/>
          <a:p>
            <a:r>
              <a:rPr lang="en-US" b="0" i="0" dirty="0">
                <a:effectLst/>
                <a:latin typeface="Arial" panose="020B0604020202020204" pitchFamily="34" charset="0"/>
              </a:rPr>
              <a:t>Once you have opened it and you had previously configured the event settings to Entry Point only,</a:t>
            </a:r>
            <a:endParaRPr lang="en-IN" dirty="0"/>
          </a:p>
        </p:txBody>
      </p:sp>
      <p:sp>
        <p:nvSpPr>
          <p:cNvPr id="7" name="TextBox 6">
            <a:extLst>
              <a:ext uri="{FF2B5EF4-FFF2-40B4-BE49-F238E27FC236}">
                <a16:creationId xmlns:a16="http://schemas.microsoft.com/office/drawing/2014/main" id="{4FF3C5CA-CD7F-4B3D-42CC-8116BCB82BD4}"/>
              </a:ext>
            </a:extLst>
          </p:cNvPr>
          <p:cNvSpPr txBox="1"/>
          <p:nvPr/>
        </p:nvSpPr>
        <p:spPr>
          <a:xfrm>
            <a:off x="2581387" y="1199065"/>
            <a:ext cx="9144000" cy="369332"/>
          </a:xfrm>
          <a:prstGeom prst="rect">
            <a:avLst/>
          </a:prstGeom>
          <a:noFill/>
        </p:spPr>
        <p:txBody>
          <a:bodyPr wrap="square">
            <a:spAutoFit/>
          </a:bodyPr>
          <a:lstStyle/>
          <a:p>
            <a:r>
              <a:rPr lang="en-US" dirty="0"/>
              <a:t>In the debug menu, you can see that x64_dbg has the some shortcut keys. </a:t>
            </a:r>
            <a:endParaRPr lang="en-IN" dirty="0"/>
          </a:p>
        </p:txBody>
      </p:sp>
      <p:pic>
        <p:nvPicPr>
          <p:cNvPr id="18434" name="Picture 2">
            <a:extLst>
              <a:ext uri="{FF2B5EF4-FFF2-40B4-BE49-F238E27FC236}">
                <a16:creationId xmlns:a16="http://schemas.microsoft.com/office/drawing/2014/main" id="{EAE18AE0-7C4A-EC9C-27C2-3BD99177B2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864" y="1768395"/>
            <a:ext cx="4057650" cy="322278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4C3155D-17A1-7789-98B7-D5BAE111FA33}"/>
              </a:ext>
            </a:extLst>
          </p:cNvPr>
          <p:cNvSpPr txBox="1"/>
          <p:nvPr/>
        </p:nvSpPr>
        <p:spPr>
          <a:xfrm>
            <a:off x="84667" y="4991175"/>
            <a:ext cx="4817533" cy="954107"/>
          </a:xfrm>
          <a:prstGeom prst="rect">
            <a:avLst/>
          </a:prstGeom>
          <a:noFill/>
        </p:spPr>
        <p:txBody>
          <a:bodyPr wrap="square">
            <a:spAutoFit/>
          </a:bodyPr>
          <a:lstStyle/>
          <a:p>
            <a:br>
              <a:rPr lang="en-US" sz="1400" dirty="0"/>
            </a:br>
            <a:r>
              <a:rPr lang="en-US" sz="1400" b="0" i="0" dirty="0">
                <a:effectLst/>
                <a:latin typeface="Arial" panose="020B0604020202020204" pitchFamily="34" charset="0"/>
              </a:rPr>
              <a:t>This will allow us to simply copy the string directly to our clipboard. Now that we have the hash, we can paste it into a hash solver such as the one available at hashkiller.co.uk</a:t>
            </a:r>
            <a:endParaRPr lang="en-IN" sz="1400" dirty="0"/>
          </a:p>
        </p:txBody>
      </p:sp>
      <p:pic>
        <p:nvPicPr>
          <p:cNvPr id="18436" name="Picture 4">
            <a:extLst>
              <a:ext uri="{FF2B5EF4-FFF2-40B4-BE49-F238E27FC236}">
                <a16:creationId xmlns:a16="http://schemas.microsoft.com/office/drawing/2014/main" id="{5EBA9D75-949D-C373-0D51-E82878F199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9067" y="1767481"/>
            <a:ext cx="7078134" cy="62865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417ED2DB-C739-DAC9-BE3C-61EA6D18EB6F}"/>
              </a:ext>
            </a:extLst>
          </p:cNvPr>
          <p:cNvSpPr txBox="1"/>
          <p:nvPr/>
        </p:nvSpPr>
        <p:spPr>
          <a:xfrm>
            <a:off x="5528733" y="2690336"/>
            <a:ext cx="6096000" cy="738664"/>
          </a:xfrm>
          <a:prstGeom prst="rect">
            <a:avLst/>
          </a:prstGeom>
          <a:noFill/>
        </p:spPr>
        <p:txBody>
          <a:bodyPr wrap="square">
            <a:spAutoFit/>
          </a:bodyPr>
          <a:lstStyle/>
          <a:p>
            <a:r>
              <a:rPr lang="en-US" sz="1400" b="0" i="0" dirty="0">
                <a:effectLst/>
                <a:latin typeface="Arial" panose="020B0604020202020204" pitchFamily="34" charset="0"/>
              </a:rPr>
              <a:t>Amazingly, it has found a solution saying that the password is ba321c. Let's open the unmodified program or restart the one in our debugger and try this value in the password field.</a:t>
            </a:r>
            <a:endParaRPr lang="en-IN" sz="1400" dirty="0"/>
          </a:p>
        </p:txBody>
      </p:sp>
      <p:pic>
        <p:nvPicPr>
          <p:cNvPr id="18438" name="Picture 6">
            <a:extLst>
              <a:ext uri="{FF2B5EF4-FFF2-40B4-BE49-F238E27FC236}">
                <a16:creationId xmlns:a16="http://schemas.microsoft.com/office/drawing/2014/main" id="{053089C7-99CC-E33D-4309-825B2D2F5D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12983" y="3713693"/>
            <a:ext cx="3486150" cy="18097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255E2540-A166-D841-F1D3-F4619F5E996B}"/>
              </a:ext>
            </a:extLst>
          </p:cNvPr>
          <p:cNvSpPr txBox="1"/>
          <p:nvPr/>
        </p:nvSpPr>
        <p:spPr>
          <a:xfrm>
            <a:off x="465663" y="6207036"/>
            <a:ext cx="11726337" cy="523220"/>
          </a:xfrm>
          <a:prstGeom prst="rect">
            <a:avLst/>
          </a:prstGeom>
          <a:noFill/>
        </p:spPr>
        <p:txBody>
          <a:bodyPr wrap="square">
            <a:spAutoFit/>
          </a:bodyPr>
          <a:lstStyle/>
          <a:p>
            <a:r>
              <a:rPr lang="en-US" sz="1400" b="0" i="0" dirty="0">
                <a:effectLst/>
                <a:latin typeface="Arial" panose="020B0604020202020204" pitchFamily="34" charset="0"/>
              </a:rPr>
              <a:t>This concludes this introductory tutorial for x64_dbg. This is a very powerful reverse engineering tool that offers a wide range of features and flexibility to accomplish even the most difficult tasks.</a:t>
            </a:r>
            <a:endParaRPr lang="en-IN" sz="1400" dirty="0"/>
          </a:p>
        </p:txBody>
      </p:sp>
    </p:spTree>
    <p:extLst>
      <p:ext uri="{BB962C8B-B14F-4D97-AF65-F5344CB8AC3E}">
        <p14:creationId xmlns:p14="http://schemas.microsoft.com/office/powerpoint/2010/main" val="19931556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TotalTime>
  <Words>3303</Words>
  <Application>Microsoft Office PowerPoint</Application>
  <PresentationFormat>Widescreen</PresentationFormat>
  <Paragraphs>101</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Calibri Light</vt:lpstr>
      <vt:lpstr>Graphik LC Web</vt:lpstr>
      <vt:lpstr>Office Theme</vt:lpstr>
      <vt:lpstr>Step-by-step Malware Analysis Using x64dbg </vt:lpstr>
      <vt:lpstr>Step-by-step Malware Analysis Using x64dbg </vt:lpstr>
      <vt:lpstr>Step-by-step Malware Analysis Using x64dbg </vt:lpstr>
      <vt:lpstr>Step-by-step Malware Analysis Using x64dbg </vt:lpstr>
      <vt:lpstr>Step-by-step Malware Analysis Using x64dbg </vt:lpstr>
      <vt:lpstr>Step-by-step Malware Analysis Using x64dbg </vt:lpstr>
      <vt:lpstr>Step-by-step Malware Analysis Using x64dbg </vt:lpstr>
      <vt:lpstr>Step-by-step Malware Analysis Using x64dbg </vt:lpstr>
      <vt:lpstr>Step-by-step Malware Analysis Using x64dbg </vt:lpstr>
      <vt:lpstr>Step-by-step Malware Analysis Using x64dbg </vt:lpstr>
      <vt:lpstr>Step-by-step Malware Analysis Using x64dbg </vt:lpstr>
      <vt:lpstr>Step-by-step Malware Analysis Using x64dbg </vt:lpstr>
      <vt:lpstr>Step-by-step Malware Analysis Using x64dbg </vt:lpstr>
      <vt:lpstr>Step-by-step Malware Analysis Using x64dbg </vt:lpstr>
      <vt:lpstr>Step-by-step Malware Analysis Using x64dbg </vt:lpstr>
      <vt:lpstr>Step-by-step Malware Analysis Using x64dbg </vt:lpstr>
      <vt:lpstr>Step-by-step Malware Analysis Using x64dbg </vt:lpstr>
      <vt:lpstr>Step-by-step Malware Analysis Using x64dbg </vt:lpstr>
      <vt:lpstr>Step-by-step Malware Analysis Using x64dbg </vt:lpstr>
      <vt:lpstr>Step-by-step Malware Analysis Using x64dbg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Step-by-step Malware Analysis Using x64dbg </dc:title>
  <dc:creator>ayush saxena</dc:creator>
  <cp:lastModifiedBy>ayush saxena</cp:lastModifiedBy>
  <cp:revision>1</cp:revision>
  <dcterms:created xsi:type="dcterms:W3CDTF">2023-11-16T07:20:39Z</dcterms:created>
  <dcterms:modified xsi:type="dcterms:W3CDTF">2023-11-16T08:09:01Z</dcterms:modified>
</cp:coreProperties>
</file>